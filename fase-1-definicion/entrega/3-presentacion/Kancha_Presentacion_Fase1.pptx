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nton" charset="1" panose="00000500000000000000"/>
      <p:regular r:id="rId24"/>
    </p:embeddedFont>
    <p:embeddedFont>
      <p:font typeface="Roboto" charset="1" panose="02000000000000000000"/>
      <p:regular r:id="rId25"/>
    </p:embeddedFont>
    <p:embeddedFont>
      <p:font typeface="Roboto Bold" charset="1" panose="02000000000000000000"/>
      <p:regular r:id="rId26"/>
    </p:embeddedFont>
    <p:embeddedFont>
      <p:font typeface="DejaVu Sans Light" charset="1" panose="020B0603030804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Presentación del proyecto Kancha, Fase 1 del Portafolio de Título. Introducirme y el contexto académico.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Aunque es un proyecto individual, se mantienen los seis roles Scrum de forma explícita para preservar la trazabilidad de responsabilidades.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de transición hacia el problema que resuelve Kancha.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fenómeno del falta uno: cancelaciones de última hora, pérdida económica en recintos privados y frustración en canchas públicas.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de transición hacia la propuesta de solución.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Kancha se sostiene en tres elementos: mapa geolocalizado, Sistema de Honor y pago fraccionado.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Objetivo general y cuatro objetivos específicos, alineados con los objetivos de negocio de la Fase 1.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Roadmap de 9 sprints de 2 semanas, desde el 10 de agosto hasta el 7 de diciembre de 2026, agrupados en 3 fases del Portafolio de Título.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Cadencia de sprints de 2 semanas, cuatro ceremonias ágiles y GitHub Projects como tablero Kanban.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Stack: React y Tailwind en frontend, Node.js con PostgreSQL y PostGIS en backend, Docker y GitHub Actions en infraestructura.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Bosquejo del modelo de datos: usuarios, partidos, participaciones, calificaciones y pagos.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Frontend en React consumiendo una API REST en Node.js, que persiste en PostgreSQL con PostGIS e integra pasarela de pago y API de mapas externas.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https://claude.ai/code/artifact/74e07f6d-0923-403d-b0db-06814ed5310a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Del Sprint 3 al Sprint 9: modelo de datos, backend, frontend con mapa, pruebas y despliegue final.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Cierre con el tagline de marca. Agradecer y abrir espacio a preguntas.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65" y="-577959"/>
            <a:ext cx="18254435" cy="12177229"/>
          </a:xfrm>
          <a:custGeom>
            <a:avLst/>
            <a:gdLst/>
            <a:ahLst/>
            <a:cxnLst/>
            <a:rect r="r" b="b" t="t" l="l"/>
            <a:pathLst>
              <a:path h="12177229" w="18254435">
                <a:moveTo>
                  <a:pt x="0" y="0"/>
                </a:moveTo>
                <a:lnTo>
                  <a:pt x="18254435" y="0"/>
                </a:lnTo>
                <a:lnTo>
                  <a:pt x="18254435" y="12177229"/>
                </a:lnTo>
                <a:lnTo>
                  <a:pt x="0" y="12177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33565" y="0"/>
            <a:ext cx="18178235" cy="10287000"/>
          </a:xfrm>
          <a:prstGeom prst="rect">
            <a:avLst/>
          </a:prstGeom>
          <a:solidFill>
            <a:srgbClr val="1A1A1A">
              <a:alpha val="37647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9715500" y="0"/>
            <a:ext cx="8572500" cy="10287000"/>
          </a:xfrm>
          <a:prstGeom prst="rect">
            <a:avLst/>
          </a:prstGeom>
          <a:solidFill>
            <a:srgbClr val="7F7F7F">
              <a:alpha val="7843"/>
            </a:srgbClr>
          </a:solidFill>
        </p:spPr>
      </p:sp>
      <p:sp>
        <p:nvSpPr>
          <p:cNvPr name="TextBox 5" id="5"/>
          <p:cNvSpPr txBox="true"/>
          <p:nvPr/>
        </p:nvSpPr>
        <p:spPr>
          <a:xfrm rot="0">
            <a:off x="13650061" y="2512014"/>
            <a:ext cx="4637939" cy="659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54"/>
              </a:lnSpc>
            </a:pPr>
            <a:r>
              <a:rPr lang="en-US" sz="61054" spc="-1343">
                <a:solidFill>
                  <a:srgbClr val="242424"/>
                </a:solidFill>
                <a:latin typeface="Anton"/>
                <a:ea typeface="Anton"/>
                <a:cs typeface="Anton"/>
                <a:sym typeface="Anton"/>
              </a:rPr>
              <a:t>&gt;&gt;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3562350"/>
            <a:ext cx="8572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5000" spc="15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53506"/>
            <a:ext cx="9504985" cy="44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5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Plataforma móvil geolocalizada para partidos deportivos amateur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87401" y="-577959"/>
            <a:ext cx="6794469" cy="8153363"/>
            <a:chOff x="0" y="0"/>
            <a:chExt cx="11430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1402" t="-2307" r="-11874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2500" y="809625"/>
            <a:ext cx="424291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B0B0B0"/>
                </a:solidFill>
                <a:latin typeface="Roboto Bold"/>
                <a:ea typeface="Roboto Bold"/>
                <a:cs typeface="Roboto Bold"/>
                <a:sym typeface="Roboto Bold"/>
              </a:rPr>
              <a:t>PORTAFOLIO DE TÍTULO · FASE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582025"/>
            <a:ext cx="168859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ESTUDIANTE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905875"/>
            <a:ext cx="168859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Lukas Guerrero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248775"/>
            <a:ext cx="168859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3E3E3"/>
                </a:solidFill>
                <a:latin typeface="Roboto"/>
                <a:ea typeface="Roboto"/>
                <a:cs typeface="Roboto"/>
                <a:sym typeface="Roboto"/>
              </a:rPr>
              <a:t>RUT 20.846.502-3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03092" y="8582025"/>
            <a:ext cx="27752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CARRERA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03092" y="8905875"/>
            <a:ext cx="277520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Ingeniería en Informática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03092" y="9248775"/>
            <a:ext cx="27752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3E3E3"/>
                </a:solidFill>
                <a:latin typeface="Roboto"/>
                <a:ea typeface="Roboto"/>
                <a:cs typeface="Roboto"/>
                <a:sym typeface="Roboto"/>
              </a:rPr>
              <a:t>Sede Plaza Vespucio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905000"/>
            <a:ext cx="18288000" cy="12192000"/>
          </a:xfrm>
          <a:custGeom>
            <a:avLst/>
            <a:gdLst/>
            <a:ahLst/>
            <a:cxnLst/>
            <a:rect r="r" b="b" t="t" l="l"/>
            <a:pathLst>
              <a:path h="12192000" w="18288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Equipo de trabajo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2374265"/>
            <a:ext cx="6944653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Proyecto de Título individual: un solo Squad asumiendo seis roles Scrum, apoyado por el docente guía como stakeholder.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4716780"/>
            <a:ext cx="5283136" cy="1876425"/>
            <a:chOff x="0" y="0"/>
            <a:chExt cx="7044182" cy="25019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044182" cy="2501900"/>
              <a:chOff x="0" y="0"/>
              <a:chExt cx="7044182" cy="25019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44182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182">
                    <a:moveTo>
                      <a:pt x="152400" y="0"/>
                    </a:moveTo>
                    <a:lnTo>
                      <a:pt x="6891782" y="0"/>
                    </a:lnTo>
                    <a:cubicBezTo>
                      <a:pt x="6975983" y="0"/>
                      <a:pt x="7044182" y="68199"/>
                      <a:pt x="7044182" y="152400"/>
                    </a:cubicBezTo>
                    <a:lnTo>
                      <a:pt x="7044182" y="2349500"/>
                    </a:lnTo>
                    <a:cubicBezTo>
                      <a:pt x="7044182" y="2433701"/>
                      <a:pt x="6975983" y="2501900"/>
                      <a:pt x="6891782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2A2A2A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044182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182">
                    <a:moveTo>
                      <a:pt x="152400" y="0"/>
                    </a:moveTo>
                    <a:lnTo>
                      <a:pt x="6891782" y="0"/>
                    </a:lnTo>
                    <a:cubicBezTo>
                      <a:pt x="6975983" y="0"/>
                      <a:pt x="7044182" y="68199"/>
                      <a:pt x="7044182" y="152400"/>
                    </a:cubicBezTo>
                    <a:lnTo>
                      <a:pt x="7044182" y="2349500"/>
                    </a:lnTo>
                    <a:cubicBezTo>
                      <a:pt x="7044182" y="2433701"/>
                      <a:pt x="6975983" y="2501900"/>
                      <a:pt x="6891782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3A3A3A"/>
                </a:solidFill>
                <a:prstDash val="solid"/>
                <a:miter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19100" y="390525"/>
              <a:ext cx="6205982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 spc="149">
                  <a:solidFill>
                    <a:srgbClr val="F0A5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PRODUCT OWNER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19100" y="752475"/>
              <a:ext cx="6205982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Lukas Guerrero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19100" y="1323975"/>
              <a:ext cx="6205982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0B0B0"/>
                  </a:solidFill>
                  <a:latin typeface="Roboto"/>
                  <a:ea typeface="Roboto"/>
                  <a:cs typeface="Roboto"/>
                  <a:sym typeface="Roboto"/>
                </a:rPr>
                <a:t>Define y prioriza el Product Backlog, redacta épicas e historias de usuario.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02336" y="4716780"/>
            <a:ext cx="5283232" cy="1876425"/>
            <a:chOff x="0" y="0"/>
            <a:chExt cx="7044309" cy="25019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044309" cy="2501900"/>
              <a:chOff x="0" y="0"/>
              <a:chExt cx="7044309" cy="25019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2A2A2A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3A3A3A"/>
                </a:solidFill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419100" y="752475"/>
              <a:ext cx="6206109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Lukas Guerrero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9100" y="1323975"/>
              <a:ext cx="6206109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0B0B0"/>
                  </a:solidFill>
                  <a:latin typeface="Roboto"/>
                  <a:ea typeface="Roboto"/>
                  <a:cs typeface="Roboto"/>
                  <a:sym typeface="Roboto"/>
                </a:rPr>
                <a:t>Facilita las ceremonias ágiles y vela por la cadencia de los sprints de 2 semanas.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19100" y="390525"/>
              <a:ext cx="6206109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 spc="149">
                  <a:solidFill>
                    <a:srgbClr val="F0A5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SCRUM MASTER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52268" y="4716780"/>
            <a:ext cx="5283232" cy="1876425"/>
            <a:chOff x="0" y="0"/>
            <a:chExt cx="7044309" cy="25019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044309" cy="2501900"/>
              <a:chOff x="0" y="0"/>
              <a:chExt cx="7044309" cy="25019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2A2A2A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3A3A3A"/>
                </a:solidFill>
                <a:prstDash val="solid"/>
                <a:miter/>
              </a:ln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419100" y="390525"/>
              <a:ext cx="6206109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 spc="149">
                  <a:solidFill>
                    <a:srgbClr val="F0A5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DEV BACKEND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19100" y="752475"/>
              <a:ext cx="6206109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Lukas Guerrero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19100" y="1323975"/>
              <a:ext cx="6206109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0B0B0"/>
                  </a:solidFill>
                  <a:latin typeface="Roboto"/>
                  <a:ea typeface="Roboto"/>
                  <a:cs typeface="Roboto"/>
                  <a:sym typeface="Roboto"/>
                </a:rPr>
                <a:t>Diseña el modelo de datos, la API REST, el emparejamiento y los pagos.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00" y="6836093"/>
            <a:ext cx="5283136" cy="1876425"/>
            <a:chOff x="0" y="0"/>
            <a:chExt cx="7044182" cy="25019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044182" cy="2501900"/>
              <a:chOff x="0" y="0"/>
              <a:chExt cx="7044182" cy="25019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044182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182">
                    <a:moveTo>
                      <a:pt x="152400" y="0"/>
                    </a:moveTo>
                    <a:lnTo>
                      <a:pt x="6891782" y="0"/>
                    </a:lnTo>
                    <a:cubicBezTo>
                      <a:pt x="6975983" y="0"/>
                      <a:pt x="7044182" y="68199"/>
                      <a:pt x="7044182" y="152400"/>
                    </a:cubicBezTo>
                    <a:lnTo>
                      <a:pt x="7044182" y="2349500"/>
                    </a:lnTo>
                    <a:cubicBezTo>
                      <a:pt x="7044182" y="2433701"/>
                      <a:pt x="6975983" y="2501900"/>
                      <a:pt x="6891782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2A2A2A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044182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182">
                    <a:moveTo>
                      <a:pt x="152400" y="0"/>
                    </a:moveTo>
                    <a:lnTo>
                      <a:pt x="6891782" y="0"/>
                    </a:lnTo>
                    <a:cubicBezTo>
                      <a:pt x="6975983" y="0"/>
                      <a:pt x="7044182" y="68199"/>
                      <a:pt x="7044182" y="152400"/>
                    </a:cubicBezTo>
                    <a:lnTo>
                      <a:pt x="7044182" y="2349500"/>
                    </a:lnTo>
                    <a:cubicBezTo>
                      <a:pt x="7044182" y="2433701"/>
                      <a:pt x="6975983" y="2501900"/>
                      <a:pt x="6891782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3880" r="0" b="-43880"/>
                </a:stretch>
              </a:blipFill>
              <a:ln w="9525" cap="sq">
                <a:solidFill>
                  <a:srgbClr val="3A3A3A"/>
                </a:solidFill>
                <a:prstDash val="solid"/>
                <a:miter/>
              </a:ln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419100" y="269875"/>
              <a:ext cx="6205982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 spc="149">
                  <a:solidFill>
                    <a:srgbClr val="F0A5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DEV FRONTEND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19100" y="631825"/>
              <a:ext cx="6205982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Lukas Guerrero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19100" y="1203325"/>
              <a:ext cx="6205982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0B0B0"/>
                  </a:solidFill>
                  <a:latin typeface="Roboto"/>
                  <a:ea typeface="Roboto"/>
                  <a:cs typeface="Roboto"/>
                  <a:sym typeface="Roboto"/>
                </a:rPr>
                <a:t>Implementa la interfaz, el mapa interactivo y el perfil gamificado.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02336" y="6836093"/>
            <a:ext cx="5283232" cy="1876425"/>
            <a:chOff x="0" y="0"/>
            <a:chExt cx="7044309" cy="25019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7044309" cy="2501900"/>
              <a:chOff x="0" y="0"/>
              <a:chExt cx="7044309" cy="2501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2A2A2A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3A3A3A"/>
                </a:solidFill>
                <a:prstDash val="solid"/>
                <a:miter/>
              </a:ln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419100" y="269875"/>
              <a:ext cx="6206109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 spc="149">
                  <a:solidFill>
                    <a:srgbClr val="F0A5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QA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19100" y="631825"/>
              <a:ext cx="6206109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Lukas Guerrero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19100" y="1203325"/>
              <a:ext cx="6206109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0B0B0"/>
                  </a:solidFill>
                  <a:latin typeface="Roboto"/>
                  <a:ea typeface="Roboto"/>
                  <a:cs typeface="Roboto"/>
                  <a:sym typeface="Roboto"/>
                </a:rPr>
                <a:t>Diseña y ejecuta el plan de pruebas unitarias e integración.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52268" y="6836093"/>
            <a:ext cx="5283232" cy="1876425"/>
            <a:chOff x="0" y="0"/>
            <a:chExt cx="7044309" cy="25019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7044309" cy="2501900"/>
              <a:chOff x="0" y="0"/>
              <a:chExt cx="7044309" cy="25019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2A2A2A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044309" cy="2501900"/>
              </a:xfrm>
              <a:custGeom>
                <a:avLst/>
                <a:gdLst/>
                <a:ahLst/>
                <a:cxnLst/>
                <a:rect r="r" b="b" t="t" l="l"/>
                <a:pathLst>
                  <a:path h="2501900" w="7044309">
                    <a:moveTo>
                      <a:pt x="152400" y="0"/>
                    </a:moveTo>
                    <a:lnTo>
                      <a:pt x="6891909" y="0"/>
                    </a:lnTo>
                    <a:cubicBezTo>
                      <a:pt x="6976110" y="0"/>
                      <a:pt x="7044309" y="68199"/>
                      <a:pt x="7044309" y="152400"/>
                    </a:cubicBezTo>
                    <a:lnTo>
                      <a:pt x="7044309" y="2349500"/>
                    </a:lnTo>
                    <a:cubicBezTo>
                      <a:pt x="7044309" y="2433701"/>
                      <a:pt x="6976110" y="2501900"/>
                      <a:pt x="6891909" y="2501900"/>
                    </a:cubicBezTo>
                    <a:lnTo>
                      <a:pt x="152400" y="2501900"/>
                    </a:lnTo>
                    <a:cubicBezTo>
                      <a:pt x="68199" y="2501900"/>
                      <a:pt x="0" y="2433701"/>
                      <a:pt x="0" y="2349500"/>
                    </a:cubicBezTo>
                    <a:lnTo>
                      <a:pt x="0" y="152400"/>
                    </a:lnTo>
                    <a:cubicBezTo>
                      <a:pt x="0" y="68199"/>
                      <a:pt x="68199" y="0"/>
                      <a:pt x="152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3A3A3A"/>
                </a:solidFill>
                <a:prstDash val="solid"/>
                <a:miter/>
              </a:ln>
            </p:spPr>
          </p:sp>
        </p:grpSp>
        <p:sp>
          <p:nvSpPr>
            <p:cNvPr name="TextBox 45" id="45"/>
            <p:cNvSpPr txBox="true"/>
            <p:nvPr/>
          </p:nvSpPr>
          <p:spPr>
            <a:xfrm rot="0">
              <a:off x="419100" y="390525"/>
              <a:ext cx="6206109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b="true" sz="1125" spc="149">
                  <a:solidFill>
                    <a:srgbClr val="F0A5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DEVOPS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19100" y="752475"/>
              <a:ext cx="6206109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Lukas Guerrero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19100" y="1323975"/>
              <a:ext cx="6206109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0B0B0"/>
                  </a:solidFill>
                  <a:latin typeface="Roboto"/>
                  <a:ea typeface="Roboto"/>
                  <a:cs typeface="Roboto"/>
                  <a:sym typeface="Roboto"/>
                </a:rPr>
                <a:t>Configura Docker, CI/CD y el despliegue de la plataforma.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7F7F7F">
              <a:alpha val="7843"/>
            </a:srgbClr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639"/>
            </a:blip>
            <a:stretch>
              <a:fillRect l="0" t="-9151" r="0" b="-915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03 / 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821475"/>
            <a:ext cx="6921359" cy="281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7"/>
              </a:lnSpc>
            </a:pPr>
            <a:r>
              <a:rPr lang="en-US" sz="16462" spc="2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503596" y="-12499"/>
            <a:ext cx="14708204" cy="9808534"/>
          </a:xfrm>
          <a:custGeom>
            <a:avLst/>
            <a:gdLst/>
            <a:ahLst/>
            <a:cxnLst/>
            <a:rect r="r" b="b" t="t" l="l"/>
            <a:pathLst>
              <a:path h="9808534" w="14708204">
                <a:moveTo>
                  <a:pt x="0" y="0"/>
                </a:moveTo>
                <a:lnTo>
                  <a:pt x="14708204" y="0"/>
                </a:lnTo>
                <a:lnTo>
                  <a:pt x="14708204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84744" y="6958360"/>
            <a:ext cx="2289115" cy="283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00"/>
              </a:lnSpc>
            </a:pPr>
            <a:r>
              <a:rPr lang="en-US" sz="16571" spc="182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&gt;&gt;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81840" y="6967885"/>
            <a:ext cx="8853660" cy="282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42"/>
              </a:lnSpc>
            </a:pPr>
            <a:r>
              <a:rPr lang="en-US" sz="16530" spc="181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PROBLEMA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960120"/>
            <a:ext cx="18288000" cy="12207240"/>
          </a:xfrm>
          <a:custGeom>
            <a:avLst/>
            <a:gdLst/>
            <a:ahLst/>
            <a:cxnLst/>
            <a:rect r="r" b="b" t="t" l="l"/>
            <a:pathLst>
              <a:path h="12207240" w="18288000">
                <a:moveTo>
                  <a:pt x="0" y="0"/>
                </a:moveTo>
                <a:lnTo>
                  <a:pt x="18288000" y="0"/>
                </a:lnTo>
                <a:lnTo>
                  <a:pt x="18288000" y="12207240"/>
                </a:lnTo>
                <a:lnTo>
                  <a:pt x="0" y="12207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4495800"/>
            <a:ext cx="5283136" cy="2895600"/>
            <a:chOff x="0" y="0"/>
            <a:chExt cx="7044182" cy="386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4182" cy="3860800"/>
            </a:xfrm>
            <a:custGeom>
              <a:avLst/>
              <a:gdLst/>
              <a:ahLst/>
              <a:cxnLst/>
              <a:rect r="r" b="b" t="t" l="l"/>
              <a:pathLst>
                <a:path h="3860800" w="7044182">
                  <a:moveTo>
                    <a:pt x="152400" y="0"/>
                  </a:moveTo>
                  <a:lnTo>
                    <a:pt x="6891782" y="0"/>
                  </a:lnTo>
                  <a:cubicBezTo>
                    <a:pt x="6975983" y="0"/>
                    <a:pt x="7044182" y="68199"/>
                    <a:pt x="7044182" y="152400"/>
                  </a:cubicBezTo>
                  <a:lnTo>
                    <a:pt x="7044182" y="3708400"/>
                  </a:lnTo>
                  <a:cubicBezTo>
                    <a:pt x="7044182" y="3792601"/>
                    <a:pt x="6975983" y="3860800"/>
                    <a:pt x="6891782" y="3860800"/>
                  </a:cubicBezTo>
                  <a:lnTo>
                    <a:pt x="152400" y="3860800"/>
                  </a:lnTo>
                  <a:cubicBezTo>
                    <a:pt x="68199" y="3860800"/>
                    <a:pt x="0" y="3792601"/>
                    <a:pt x="0" y="3708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4182" cy="3860800"/>
            </a:xfrm>
            <a:custGeom>
              <a:avLst/>
              <a:gdLst/>
              <a:ahLst/>
              <a:cxnLst/>
              <a:rect r="r" b="b" t="t" l="l"/>
              <a:pathLst>
                <a:path h="3860800" w="7044182">
                  <a:moveTo>
                    <a:pt x="152400" y="0"/>
                  </a:moveTo>
                  <a:lnTo>
                    <a:pt x="6891782" y="0"/>
                  </a:lnTo>
                  <a:cubicBezTo>
                    <a:pt x="6975983" y="0"/>
                    <a:pt x="7044182" y="68199"/>
                    <a:pt x="7044182" y="152400"/>
                  </a:cubicBezTo>
                  <a:lnTo>
                    <a:pt x="7044182" y="3708400"/>
                  </a:lnTo>
                  <a:cubicBezTo>
                    <a:pt x="7044182" y="3792601"/>
                    <a:pt x="6975983" y="3860800"/>
                    <a:pt x="6891782" y="3860800"/>
                  </a:cubicBezTo>
                  <a:lnTo>
                    <a:pt x="152400" y="3860800"/>
                  </a:lnTo>
                  <a:cubicBezTo>
                    <a:pt x="68199" y="3860800"/>
                    <a:pt x="0" y="3792601"/>
                    <a:pt x="0" y="3708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502336" y="4495800"/>
            <a:ext cx="5283232" cy="2895600"/>
            <a:chOff x="0" y="0"/>
            <a:chExt cx="7044309" cy="386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4309" cy="3860800"/>
            </a:xfrm>
            <a:custGeom>
              <a:avLst/>
              <a:gdLst/>
              <a:ahLst/>
              <a:cxnLst/>
              <a:rect r="r" b="b" t="t" l="l"/>
              <a:pathLst>
                <a:path h="38608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708400"/>
                  </a:lnTo>
                  <a:cubicBezTo>
                    <a:pt x="7044309" y="3792601"/>
                    <a:pt x="6976110" y="3860800"/>
                    <a:pt x="6891909" y="3860800"/>
                  </a:cubicBezTo>
                  <a:lnTo>
                    <a:pt x="152400" y="3860800"/>
                  </a:lnTo>
                  <a:cubicBezTo>
                    <a:pt x="68199" y="3860800"/>
                    <a:pt x="0" y="3792601"/>
                    <a:pt x="0" y="3708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309" cy="3860800"/>
            </a:xfrm>
            <a:custGeom>
              <a:avLst/>
              <a:gdLst/>
              <a:ahLst/>
              <a:cxnLst/>
              <a:rect r="r" b="b" t="t" l="l"/>
              <a:pathLst>
                <a:path h="38608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708400"/>
                  </a:lnTo>
                  <a:cubicBezTo>
                    <a:pt x="7044309" y="3792601"/>
                    <a:pt x="6976110" y="3860800"/>
                    <a:pt x="6891909" y="3860800"/>
                  </a:cubicBezTo>
                  <a:lnTo>
                    <a:pt x="152400" y="3860800"/>
                  </a:lnTo>
                  <a:cubicBezTo>
                    <a:pt x="68199" y="3860800"/>
                    <a:pt x="0" y="3792601"/>
                    <a:pt x="0" y="3708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52268" y="4495800"/>
            <a:ext cx="5283232" cy="2895600"/>
            <a:chOff x="0" y="0"/>
            <a:chExt cx="7044309" cy="386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4309" cy="3860800"/>
            </a:xfrm>
            <a:custGeom>
              <a:avLst/>
              <a:gdLst/>
              <a:ahLst/>
              <a:cxnLst/>
              <a:rect r="r" b="b" t="t" l="l"/>
              <a:pathLst>
                <a:path h="38608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708400"/>
                  </a:lnTo>
                  <a:cubicBezTo>
                    <a:pt x="7044309" y="3792601"/>
                    <a:pt x="6976110" y="3860800"/>
                    <a:pt x="6891909" y="3860800"/>
                  </a:cubicBezTo>
                  <a:lnTo>
                    <a:pt x="152400" y="3860800"/>
                  </a:lnTo>
                  <a:cubicBezTo>
                    <a:pt x="68199" y="3860800"/>
                    <a:pt x="0" y="3792601"/>
                    <a:pt x="0" y="3708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4309" cy="3860800"/>
            </a:xfrm>
            <a:custGeom>
              <a:avLst/>
              <a:gdLst/>
              <a:ahLst/>
              <a:cxnLst/>
              <a:rect r="r" b="b" t="t" l="l"/>
              <a:pathLst>
                <a:path h="38608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708400"/>
                  </a:lnTo>
                  <a:cubicBezTo>
                    <a:pt x="7044309" y="3792601"/>
                    <a:pt x="6976110" y="3860800"/>
                    <a:pt x="6891909" y="3860800"/>
                  </a:cubicBezTo>
                  <a:lnTo>
                    <a:pt x="152400" y="3860800"/>
                  </a:lnTo>
                  <a:cubicBezTo>
                    <a:pt x="68199" y="3860800"/>
                    <a:pt x="0" y="3792601"/>
                    <a:pt x="0" y="3708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2500" y="1400175"/>
            <a:ext cx="16383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149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LA PROBLEMÁTICA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1647825"/>
            <a:ext cx="163830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 fenómeno «falta uno»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2628900"/>
            <a:ext cx="1109976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organización de partidos amateur depende de coordinación informal — grupos de WhatsApp, listas manuales — muy vulnerable a la cancelación de jugadores en las horas previas al encuentro.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4925" y="4762500"/>
            <a:ext cx="457828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39C12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925" y="5753100"/>
            <a:ext cx="457828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Cancelaciones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925" y="6124575"/>
            <a:ext cx="457828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Jugadores confirman y no asisten sin ninguna consecuencia, desarticulando el partido programado.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4762" y="4762500"/>
            <a:ext cx="457838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39C12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4762" y="5753100"/>
            <a:ext cx="45783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Pérdida de dinero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4762" y="6124575"/>
            <a:ext cx="457838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Recintos privados sufren pérdidas financieras por reservas caídas o arriendos que nadie termina de cubrir.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04693" y="4762500"/>
            <a:ext cx="457838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39C12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04693" y="5753100"/>
            <a:ext cx="45783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Frustración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04693" y="6124575"/>
            <a:ext cx="457838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En canchas públicas, la cancelación total del encuentro genera pérdida de tiempo y desincentiva el deporte regular.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7F7F7F">
              <a:alpha val="7843"/>
            </a:srgbClr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639"/>
            </a:blip>
            <a:stretch>
              <a:fillRect l="0" t="-9151" r="0" b="-91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1319" y="-1099100"/>
            <a:ext cx="19162248" cy="13463011"/>
          </a:xfrm>
          <a:custGeom>
            <a:avLst/>
            <a:gdLst/>
            <a:ahLst/>
            <a:cxnLst/>
            <a:rect r="r" b="b" t="t" l="l"/>
            <a:pathLst>
              <a:path h="13463011" w="19162248">
                <a:moveTo>
                  <a:pt x="0" y="0"/>
                </a:moveTo>
                <a:lnTo>
                  <a:pt x="19162248" y="0"/>
                </a:lnTo>
                <a:lnTo>
                  <a:pt x="19162248" y="13463011"/>
                </a:lnTo>
                <a:lnTo>
                  <a:pt x="0" y="13463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7" t="0" r="-262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05 /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821475"/>
            <a:ext cx="6921359" cy="281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7"/>
              </a:lnSpc>
            </a:pPr>
            <a:r>
              <a:rPr lang="en-US" sz="16462" spc="2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4744" y="6958360"/>
            <a:ext cx="2289115" cy="283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00"/>
              </a:lnSpc>
            </a:pPr>
            <a:r>
              <a:rPr lang="en-US" sz="16571" spc="182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&gt;&gt;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81840" y="6967885"/>
            <a:ext cx="8853660" cy="282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42"/>
              </a:lnSpc>
            </a:pPr>
            <a:r>
              <a:rPr lang="en-US" sz="16530" spc="181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SOLUCIÓN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800100"/>
            <a:ext cx="18288000" cy="11887200"/>
          </a:xfrm>
          <a:custGeom>
            <a:avLst/>
            <a:gdLst/>
            <a:ahLst/>
            <a:cxnLst/>
            <a:rect r="r" b="b" t="t" l="l"/>
            <a:pathLst>
              <a:path h="11887200" w="18288000">
                <a:moveTo>
                  <a:pt x="0" y="0"/>
                </a:moveTo>
                <a:lnTo>
                  <a:pt x="18288000" y="0"/>
                </a:lnTo>
                <a:lnTo>
                  <a:pt x="18288000" y="11887200"/>
                </a:lnTo>
                <a:lnTo>
                  <a:pt x="0" y="1188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8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4646612"/>
            <a:ext cx="5283136" cy="2847975"/>
            <a:chOff x="0" y="0"/>
            <a:chExt cx="7044182" cy="3797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4182" cy="3797300"/>
            </a:xfrm>
            <a:custGeom>
              <a:avLst/>
              <a:gdLst/>
              <a:ahLst/>
              <a:cxnLst/>
              <a:rect r="r" b="b" t="t" l="l"/>
              <a:pathLst>
                <a:path h="3797300" w="7044182">
                  <a:moveTo>
                    <a:pt x="152400" y="0"/>
                  </a:moveTo>
                  <a:lnTo>
                    <a:pt x="6891782" y="0"/>
                  </a:lnTo>
                  <a:cubicBezTo>
                    <a:pt x="6975983" y="0"/>
                    <a:pt x="7044182" y="68199"/>
                    <a:pt x="7044182" y="152400"/>
                  </a:cubicBezTo>
                  <a:lnTo>
                    <a:pt x="7044182" y="3644900"/>
                  </a:lnTo>
                  <a:cubicBezTo>
                    <a:pt x="7044182" y="3729101"/>
                    <a:pt x="6975983" y="3797300"/>
                    <a:pt x="6891782" y="3797300"/>
                  </a:cubicBezTo>
                  <a:lnTo>
                    <a:pt x="152400" y="3797300"/>
                  </a:lnTo>
                  <a:cubicBezTo>
                    <a:pt x="68199" y="3797300"/>
                    <a:pt x="0" y="3729101"/>
                    <a:pt x="0" y="3644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4182" cy="3797300"/>
            </a:xfrm>
            <a:custGeom>
              <a:avLst/>
              <a:gdLst/>
              <a:ahLst/>
              <a:cxnLst/>
              <a:rect r="r" b="b" t="t" l="l"/>
              <a:pathLst>
                <a:path h="3797300" w="7044182">
                  <a:moveTo>
                    <a:pt x="152400" y="0"/>
                  </a:moveTo>
                  <a:lnTo>
                    <a:pt x="6891782" y="0"/>
                  </a:lnTo>
                  <a:cubicBezTo>
                    <a:pt x="6975983" y="0"/>
                    <a:pt x="7044182" y="68199"/>
                    <a:pt x="7044182" y="152400"/>
                  </a:cubicBezTo>
                  <a:lnTo>
                    <a:pt x="7044182" y="3644900"/>
                  </a:lnTo>
                  <a:cubicBezTo>
                    <a:pt x="7044182" y="3729101"/>
                    <a:pt x="6975983" y="3797300"/>
                    <a:pt x="6891782" y="3797300"/>
                  </a:cubicBezTo>
                  <a:lnTo>
                    <a:pt x="152400" y="3797300"/>
                  </a:lnTo>
                  <a:cubicBezTo>
                    <a:pt x="68199" y="3797300"/>
                    <a:pt x="0" y="3729101"/>
                    <a:pt x="0" y="3644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42424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43025" y="5037137"/>
            <a:ext cx="533400" cy="533400"/>
            <a:chOff x="0" y="0"/>
            <a:chExt cx="7112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ubicBezTo>
                    <a:pt x="0" y="159258"/>
                    <a:pt x="159258" y="0"/>
                    <a:pt x="3556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11200" cy="758825"/>
            </a:xfrm>
            <a:prstGeom prst="rect">
              <a:avLst/>
            </a:prstGeom>
          </p:spPr>
          <p:txBody>
            <a:bodyPr anchor="ctr" rtlCol="false" tIns="165100" lIns="165100" bIns="165100" rIns="165100"/>
            <a:lstStyle/>
            <a:p>
              <a:pPr algn="l">
                <a:lnSpc>
                  <a:spcPts val="2729"/>
                </a:lnSpc>
              </a:pPr>
              <a:r>
                <a:rPr lang="en-US" b="true" sz="195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02336" y="4646612"/>
            <a:ext cx="5283232" cy="2847975"/>
            <a:chOff x="0" y="0"/>
            <a:chExt cx="7044309" cy="3797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4309" cy="3797300"/>
            </a:xfrm>
            <a:custGeom>
              <a:avLst/>
              <a:gdLst/>
              <a:ahLst/>
              <a:cxnLst/>
              <a:rect r="r" b="b" t="t" l="l"/>
              <a:pathLst>
                <a:path h="37973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644900"/>
                  </a:lnTo>
                  <a:cubicBezTo>
                    <a:pt x="7044309" y="3729101"/>
                    <a:pt x="6976110" y="3797300"/>
                    <a:pt x="6891909" y="3797300"/>
                  </a:cubicBezTo>
                  <a:lnTo>
                    <a:pt x="152400" y="3797300"/>
                  </a:lnTo>
                  <a:cubicBezTo>
                    <a:pt x="68199" y="3797300"/>
                    <a:pt x="0" y="3729101"/>
                    <a:pt x="0" y="3644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4309" cy="3797300"/>
            </a:xfrm>
            <a:custGeom>
              <a:avLst/>
              <a:gdLst/>
              <a:ahLst/>
              <a:cxnLst/>
              <a:rect r="r" b="b" t="t" l="l"/>
              <a:pathLst>
                <a:path h="37973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644900"/>
                  </a:lnTo>
                  <a:cubicBezTo>
                    <a:pt x="7044309" y="3729101"/>
                    <a:pt x="6976110" y="3797300"/>
                    <a:pt x="6891909" y="3797300"/>
                  </a:cubicBezTo>
                  <a:lnTo>
                    <a:pt x="152400" y="3797300"/>
                  </a:lnTo>
                  <a:cubicBezTo>
                    <a:pt x="68199" y="3797300"/>
                    <a:pt x="0" y="3729101"/>
                    <a:pt x="0" y="3644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D0D0D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892862" y="5037137"/>
            <a:ext cx="533400" cy="533400"/>
            <a:chOff x="0" y="0"/>
            <a:chExt cx="7112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ubicBezTo>
                    <a:pt x="0" y="159258"/>
                    <a:pt x="159258" y="0"/>
                    <a:pt x="3556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11200" cy="758825"/>
            </a:xfrm>
            <a:prstGeom prst="rect">
              <a:avLst/>
            </a:prstGeom>
          </p:spPr>
          <p:txBody>
            <a:bodyPr anchor="ctr" rtlCol="false" tIns="165100" lIns="165100" bIns="165100" rIns="165100"/>
            <a:lstStyle/>
            <a:p>
              <a:pPr algn="l">
                <a:lnSpc>
                  <a:spcPts val="2729"/>
                </a:lnSpc>
              </a:pPr>
              <a:r>
                <a:rPr lang="en-US" b="true" sz="195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52268" y="4646612"/>
            <a:ext cx="5283232" cy="2847975"/>
            <a:chOff x="0" y="0"/>
            <a:chExt cx="7044309" cy="379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4309" cy="3797300"/>
            </a:xfrm>
            <a:custGeom>
              <a:avLst/>
              <a:gdLst/>
              <a:ahLst/>
              <a:cxnLst/>
              <a:rect r="r" b="b" t="t" l="l"/>
              <a:pathLst>
                <a:path h="37973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644900"/>
                  </a:lnTo>
                  <a:cubicBezTo>
                    <a:pt x="7044309" y="3729101"/>
                    <a:pt x="6976110" y="3797300"/>
                    <a:pt x="6891909" y="3797300"/>
                  </a:cubicBezTo>
                  <a:lnTo>
                    <a:pt x="152400" y="3797300"/>
                  </a:lnTo>
                  <a:cubicBezTo>
                    <a:pt x="68199" y="3797300"/>
                    <a:pt x="0" y="3729101"/>
                    <a:pt x="0" y="3644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4309" cy="3797300"/>
            </a:xfrm>
            <a:custGeom>
              <a:avLst/>
              <a:gdLst/>
              <a:ahLst/>
              <a:cxnLst/>
              <a:rect r="r" b="b" t="t" l="l"/>
              <a:pathLst>
                <a:path h="3797300" w="7044309">
                  <a:moveTo>
                    <a:pt x="152400" y="0"/>
                  </a:moveTo>
                  <a:lnTo>
                    <a:pt x="6891909" y="0"/>
                  </a:lnTo>
                  <a:cubicBezTo>
                    <a:pt x="6976110" y="0"/>
                    <a:pt x="7044309" y="68199"/>
                    <a:pt x="7044309" y="152400"/>
                  </a:cubicBezTo>
                  <a:lnTo>
                    <a:pt x="7044309" y="3644900"/>
                  </a:lnTo>
                  <a:cubicBezTo>
                    <a:pt x="7044309" y="3729101"/>
                    <a:pt x="6976110" y="3797300"/>
                    <a:pt x="6891909" y="3797300"/>
                  </a:cubicBezTo>
                  <a:lnTo>
                    <a:pt x="152400" y="3797300"/>
                  </a:lnTo>
                  <a:cubicBezTo>
                    <a:pt x="68199" y="3797300"/>
                    <a:pt x="0" y="3729101"/>
                    <a:pt x="0" y="3644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42793" y="5037137"/>
            <a:ext cx="533400" cy="533400"/>
            <a:chOff x="0" y="0"/>
            <a:chExt cx="7112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ubicBezTo>
                    <a:pt x="0" y="159258"/>
                    <a:pt x="159258" y="0"/>
                    <a:pt x="3556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11200" cy="758825"/>
            </a:xfrm>
            <a:prstGeom prst="rect">
              <a:avLst/>
            </a:prstGeom>
          </p:spPr>
          <p:txBody>
            <a:bodyPr anchor="ctr" rtlCol="false" tIns="165100" lIns="165100" bIns="165100" rIns="165100"/>
            <a:lstStyle/>
            <a:p>
              <a:pPr algn="l">
                <a:lnSpc>
                  <a:spcPts val="2729"/>
                </a:lnSpc>
              </a:pPr>
              <a:r>
                <a:rPr lang="en-US" b="true" sz="195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52500" y="14763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 propuesta Kancha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" y="2516188"/>
            <a:ext cx="1251547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Una plataforma tipo red social y marketplace que conecta agentes libres con partidos que necesitan jugadores.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3025" y="5751512"/>
            <a:ext cx="450208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Mapa geolocalizado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3025" y="6189662"/>
            <a:ext cx="450208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Descubrimiento en tiempo real de partidos con cupos, filtrables por disciplina, horario y cercanía.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92862" y="5751512"/>
            <a:ext cx="45021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Sistema de Honor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92862" y="6189662"/>
            <a:ext cx="450218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Perfiles tipo "carta de jugador" con reseñas y calificaciones mutuas post-partido que construyen confianza.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42793" y="5751512"/>
            <a:ext cx="45021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Pago fraccionado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42793" y="6189662"/>
            <a:ext cx="450218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Cada jugador paga solo su cupo, con retención económica por deserción a menos de 12 horas del partido.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52500" y="2017489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Objetivos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310799"/>
            <a:ext cx="16383000" cy="1695450"/>
            <a:chOff x="0" y="0"/>
            <a:chExt cx="21844000" cy="226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260600"/>
            </a:xfrm>
            <a:custGeom>
              <a:avLst/>
              <a:gdLst/>
              <a:ahLst/>
              <a:cxnLst/>
              <a:rect r="r" b="b" t="t" l="l"/>
              <a:pathLst>
                <a:path h="2260600" w="21844000">
                  <a:moveTo>
                    <a:pt x="101600" y="0"/>
                  </a:moveTo>
                  <a:lnTo>
                    <a:pt x="21742400" y="0"/>
                  </a:lnTo>
                  <a:cubicBezTo>
                    <a:pt x="21798535" y="0"/>
                    <a:pt x="21844000" y="45466"/>
                    <a:pt x="21844000" y="101600"/>
                  </a:cubicBezTo>
                  <a:lnTo>
                    <a:pt x="21844000" y="2159000"/>
                  </a:lnTo>
                  <a:cubicBezTo>
                    <a:pt x="21844000" y="2215134"/>
                    <a:pt x="21798535" y="2260600"/>
                    <a:pt x="21742400" y="2260600"/>
                  </a:cubicBezTo>
                  <a:lnTo>
                    <a:pt x="101600" y="2260600"/>
                  </a:lnTo>
                  <a:cubicBezTo>
                    <a:pt x="45466" y="2260600"/>
                    <a:pt x="0" y="2215134"/>
                    <a:pt x="0" y="21590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</p:grpSp>
      <p:sp>
        <p:nvSpPr>
          <p:cNvPr name="AutoShape 6" id="6"/>
          <p:cNvSpPr/>
          <p:nvPr/>
        </p:nvSpPr>
        <p:spPr>
          <a:xfrm rot="0">
            <a:off x="952500" y="3310799"/>
            <a:ext cx="38100" cy="1695450"/>
          </a:xfrm>
          <a:prstGeom prst="rect">
            <a:avLst/>
          </a:prstGeom>
          <a:solidFill>
            <a:srgbClr val="F0A500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371600" y="3587024"/>
            <a:ext cx="155829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149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OBJETIVO 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" y="3844199"/>
            <a:ext cx="15582900" cy="71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Desarrollar una plataforma geolocalizada que conecte agentes libres con partidos amateurs incompletos en La Florida, reduciendo la cancelación por falta de jugadores mediante confianza y pago fraccionado.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5764421"/>
            <a:ext cx="8077200" cy="1219200"/>
            <a:chOff x="0" y="0"/>
            <a:chExt cx="10769600" cy="162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66825" y="5983496"/>
            <a:ext cx="28289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0217" y="5993021"/>
            <a:ext cx="697515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Reducir la tasa de cancelación de partidos amateurs por falta de jugadores en la zona piloto.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00" y="5764421"/>
            <a:ext cx="8077200" cy="1219200"/>
            <a:chOff x="0" y="0"/>
            <a:chExt cx="10769600" cy="162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572625" y="5983496"/>
            <a:ext cx="3389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02024" y="5993021"/>
            <a:ext cx="69191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Generar un flujo de comisiones por transacción sobre reservas gestionadas en la plataforma.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2500" y="7233774"/>
            <a:ext cx="8077200" cy="1219200"/>
            <a:chOff x="0" y="0"/>
            <a:chExt cx="10769600" cy="1625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66825" y="7452849"/>
            <a:ext cx="3389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96224" y="7462374"/>
            <a:ext cx="69191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Construir una comunidad activa y confiable de jugadores mediante el Sistema de Honor.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8300" y="7233774"/>
            <a:ext cx="8077200" cy="1219200"/>
            <a:chOff x="0" y="0"/>
            <a:chExt cx="10769600" cy="162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9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69600">
                  <a:moveTo>
                    <a:pt x="152400" y="0"/>
                  </a:moveTo>
                  <a:lnTo>
                    <a:pt x="10617200" y="0"/>
                  </a:lnTo>
                  <a:cubicBezTo>
                    <a:pt x="10701401" y="0"/>
                    <a:pt x="10769600" y="68199"/>
                    <a:pt x="10769600" y="152400"/>
                  </a:cubicBezTo>
                  <a:lnTo>
                    <a:pt x="10769600" y="1473200"/>
                  </a:lnTo>
                  <a:cubicBezTo>
                    <a:pt x="10769600" y="1557401"/>
                    <a:pt x="10701401" y="1625600"/>
                    <a:pt x="10617200" y="1625600"/>
                  </a:cubicBezTo>
                  <a:lnTo>
                    <a:pt x="152400" y="1625600"/>
                  </a:lnTo>
                  <a:cubicBezTo>
                    <a:pt x="68199" y="1625600"/>
                    <a:pt x="0" y="1557401"/>
                    <a:pt x="0" y="14732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572625" y="7452849"/>
            <a:ext cx="3389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02024" y="7462374"/>
            <a:ext cx="69191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Validar el modelo de negocio y la arquitectura técnica como base para una futura escalabilidad geográfica.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52500" y="7096125"/>
            <a:ext cx="133350" cy="133350"/>
            <a:chOff x="0" y="0"/>
            <a:chExt cx="177800" cy="177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ubicBezTo>
                    <a:pt x="0" y="39751"/>
                    <a:pt x="39751" y="0"/>
                    <a:pt x="88900" y="0"/>
                  </a:cubicBezTo>
                  <a:close/>
                </a:path>
              </a:pathLst>
            </a:custGeom>
            <a:solidFill>
              <a:srgbClr val="C47A3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76836" y="7096125"/>
            <a:ext cx="133350" cy="133350"/>
            <a:chOff x="0" y="0"/>
            <a:chExt cx="177800" cy="177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ubicBezTo>
                    <a:pt x="0" y="39751"/>
                    <a:pt x="39751" y="0"/>
                    <a:pt x="889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ubicBezTo>
                    <a:pt x="0" y="39751"/>
                    <a:pt x="39751" y="0"/>
                    <a:pt x="889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0B0B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820126" y="7096125"/>
            <a:ext cx="133350" cy="133350"/>
            <a:chOff x="0" y="0"/>
            <a:chExt cx="177800" cy="17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ubicBezTo>
                    <a:pt x="0" y="39751"/>
                    <a:pt x="39751" y="0"/>
                    <a:pt x="889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ubicBezTo>
                    <a:pt x="0" y="39751"/>
                    <a:pt x="39751" y="0"/>
                    <a:pt x="889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11" id="11"/>
          <p:cNvSpPr/>
          <p:nvPr/>
        </p:nvSpPr>
        <p:spPr>
          <a:xfrm rot="0">
            <a:off x="952500" y="4781550"/>
            <a:ext cx="16383000" cy="19050"/>
          </a:xfrm>
          <a:prstGeom prst="rect">
            <a:avLst/>
          </a:prstGeom>
          <a:solidFill>
            <a:srgbClr val="3A3A3A"/>
          </a:solidFill>
        </p:spPr>
      </p:sp>
      <p:sp>
        <p:nvSpPr>
          <p:cNvPr name="AutoShape 12" id="12"/>
          <p:cNvSpPr/>
          <p:nvPr/>
        </p:nvSpPr>
        <p:spPr>
          <a:xfrm rot="0">
            <a:off x="952500" y="4781550"/>
            <a:ext cx="3686175" cy="19050"/>
          </a:xfrm>
          <a:prstGeom prst="rect">
            <a:avLst/>
          </a:prstGeom>
          <a:solidFill>
            <a:srgbClr val="C47A3A"/>
          </a:solidFill>
        </p:spPr>
      </p:sp>
      <p:grpSp>
        <p:nvGrpSpPr>
          <p:cNvPr name="Group 13" id="13"/>
          <p:cNvGrpSpPr/>
          <p:nvPr/>
        </p:nvGrpSpPr>
        <p:grpSpPr>
          <a:xfrm rot="0">
            <a:off x="1776889" y="4400550"/>
            <a:ext cx="171450" cy="171450"/>
            <a:chOff x="0" y="0"/>
            <a:chExt cx="228600" cy="228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C47A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578162" y="4400550"/>
            <a:ext cx="209550" cy="209550"/>
            <a:chOff x="0" y="0"/>
            <a:chExt cx="279400" cy="279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139700" y="0"/>
                  </a:move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17534" y="4400550"/>
            <a:ext cx="171450" cy="171450"/>
            <a:chOff x="0" y="0"/>
            <a:chExt cx="228600" cy="22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0B0B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237857" y="4400550"/>
            <a:ext cx="171450" cy="171450"/>
            <a:chOff x="0" y="0"/>
            <a:chExt cx="228600" cy="22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0B0B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058084" y="4400550"/>
            <a:ext cx="171450" cy="171450"/>
            <a:chOff x="0" y="0"/>
            <a:chExt cx="228600" cy="22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0B0B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878407" y="4400550"/>
            <a:ext cx="171450" cy="171450"/>
            <a:chOff x="0" y="0"/>
            <a:chExt cx="228600" cy="228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0B0B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698730" y="4400550"/>
            <a:ext cx="171450" cy="171450"/>
            <a:chOff x="0" y="0"/>
            <a:chExt cx="228600" cy="228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B0B0B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4519053" y="4400550"/>
            <a:ext cx="171450" cy="171450"/>
            <a:chOff x="0" y="0"/>
            <a:chExt cx="228600" cy="228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6339566" y="4400550"/>
            <a:ext cx="171450" cy="171450"/>
            <a:chOff x="0" y="0"/>
            <a:chExt cx="228600" cy="228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498830" y="7528135"/>
            <a:ext cx="4192048" cy="2758865"/>
            <a:chOff x="0" y="0"/>
            <a:chExt cx="926277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277" cy="609600"/>
            </a:xfrm>
            <a:custGeom>
              <a:avLst/>
              <a:gdLst/>
              <a:ahLst/>
              <a:cxnLst/>
              <a:rect r="r" b="b" t="t" l="l"/>
              <a:pathLst>
                <a:path h="609600" w="926277">
                  <a:moveTo>
                    <a:pt x="203200" y="0"/>
                  </a:moveTo>
                  <a:lnTo>
                    <a:pt x="926277" y="0"/>
                  </a:lnTo>
                  <a:lnTo>
                    <a:pt x="72307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01600" y="-66675"/>
              <a:ext cx="723077" cy="67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0821803" y="5990013"/>
            <a:ext cx="6445481" cy="4296987"/>
          </a:xfrm>
          <a:custGeom>
            <a:avLst/>
            <a:gdLst/>
            <a:ahLst/>
            <a:cxnLst/>
            <a:rect r="r" b="b" t="t" l="l"/>
            <a:pathLst>
              <a:path h="4296987" w="6445481">
                <a:moveTo>
                  <a:pt x="0" y="0"/>
                </a:moveTo>
                <a:lnTo>
                  <a:pt x="6445481" y="0"/>
                </a:lnTo>
                <a:lnTo>
                  <a:pt x="6445481" y="4296987"/>
                </a:lnTo>
                <a:lnTo>
                  <a:pt x="0" y="4296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788884" y="5038725"/>
            <a:ext cx="14287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Modelo de Datos y UML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01–14 sep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609207" y="5038725"/>
            <a:ext cx="14287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Backend Parte 1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15–28 sep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429434" y="5038725"/>
            <a:ext cx="14287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Backend Parte 2 + Pagos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29 sep–12 oct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49757" y="5038725"/>
            <a:ext cx="14287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Frontend + Mapa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13–26 oct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70080" y="5038725"/>
            <a:ext cx="14287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Pruebas (C1) + Docker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27 oct–9 nov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8239" y="7038975"/>
            <a:ext cx="154333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Fase 1 · Definición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072574" y="7038975"/>
            <a:ext cx="156229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Fase 2 · Desarrollo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15865" y="7038975"/>
            <a:ext cx="235953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Fase 3 · Despliegue y defensa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Plan de trabajo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2500" y="2238375"/>
            <a:ext cx="8105345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 sprints Scrum de 2 semanas · 10 de agosto → 7 de diciembre de 2026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08 / 15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48239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8239" y="5038725"/>
            <a:ext cx="14287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Definición APT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10–23 ago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68562" y="3371850"/>
            <a:ext cx="142875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b="true" sz="975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ACTUAL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968562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68562" y="5038725"/>
            <a:ext cx="14287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Guía 1 · esta entrega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24–31 ago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788884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609207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429434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49757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6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70080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890403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8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890403" y="5038725"/>
            <a:ext cx="14287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Despliegue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10–23 nov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710916" y="3609975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9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710916" y="5038725"/>
            <a:ext cx="14287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Presentación Comisión</a:t>
            </a:r>
          </a:p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24 nov–7 dic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306830"/>
            <a:ext cx="18288000" cy="12195810"/>
          </a:xfrm>
          <a:custGeom>
            <a:avLst/>
            <a:gdLst/>
            <a:ahLst/>
            <a:cxnLst/>
            <a:rect r="r" b="b" t="t" l="l"/>
            <a:pathLst>
              <a:path h="12195810" w="18288000">
                <a:moveTo>
                  <a:pt x="0" y="0"/>
                </a:moveTo>
                <a:lnTo>
                  <a:pt x="18288000" y="0"/>
                </a:lnTo>
                <a:lnTo>
                  <a:pt x="18288000" y="12195810"/>
                </a:lnTo>
                <a:lnTo>
                  <a:pt x="0" y="1219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00" y="3481389"/>
            <a:ext cx="3867150" cy="3472812"/>
            <a:chOff x="0" y="0"/>
            <a:chExt cx="5156200" cy="4630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124450" y="3481389"/>
            <a:ext cx="3867150" cy="3472812"/>
            <a:chOff x="0" y="0"/>
            <a:chExt cx="5156200" cy="46304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296400" y="3481389"/>
            <a:ext cx="3867150" cy="3472812"/>
            <a:chOff x="0" y="0"/>
            <a:chExt cx="5156200" cy="46304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468350" y="3481389"/>
            <a:ext cx="3867150" cy="3472812"/>
            <a:chOff x="0" y="0"/>
            <a:chExt cx="5156200" cy="46304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56200" cy="4630416"/>
            </a:xfrm>
            <a:custGeom>
              <a:avLst/>
              <a:gdLst/>
              <a:ahLst/>
              <a:cxnLst/>
              <a:rect r="r" b="b" t="t" l="l"/>
              <a:pathLst>
                <a:path h="4630416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69070"/>
                    <a:pt x="5156200" y="154347"/>
                  </a:cubicBezTo>
                  <a:lnTo>
                    <a:pt x="5156200" y="4476069"/>
                  </a:lnTo>
                  <a:cubicBezTo>
                    <a:pt x="5156200" y="4561345"/>
                    <a:pt x="5065268" y="4630416"/>
                    <a:pt x="4953000" y="4630416"/>
                  </a:cubicBezTo>
                  <a:lnTo>
                    <a:pt x="203200" y="4630416"/>
                  </a:lnTo>
                  <a:cubicBezTo>
                    <a:pt x="90932" y="4630416"/>
                    <a:pt x="0" y="4561345"/>
                    <a:pt x="0" y="4476069"/>
                  </a:cubicBezTo>
                  <a:lnTo>
                    <a:pt x="0" y="154347"/>
                  </a:lnTo>
                  <a:cubicBezTo>
                    <a:pt x="0" y="69070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Metodología Scrum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2238375"/>
            <a:ext cx="890562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Sprints de 2 semanas, con ceremonias ágiles y trazabilidad en GitHub Projects.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3025" y="4208145"/>
            <a:ext cx="3086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CEREMONIA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3025" y="4570095"/>
            <a:ext cx="30861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Planning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025" y="5151120"/>
            <a:ext cx="2827467" cy="10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Selección de historias del backlog para las próximas 2 semanas.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14975" y="4208145"/>
            <a:ext cx="3086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CEREMONIA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14975" y="4570095"/>
            <a:ext cx="30861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Daily Scrum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14975" y="5151120"/>
            <a:ext cx="2695575" cy="10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Revisión breve de avances e impedimentos durante el sprint.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86925" y="4208145"/>
            <a:ext cx="3086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CEREMONIA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86925" y="4570095"/>
            <a:ext cx="30861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 Review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86925" y="5151120"/>
            <a:ext cx="2590388" cy="10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Demostración del incremento al docente guía como stakeholder.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58875" y="4208145"/>
            <a:ext cx="3086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CEREMONIA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58875" y="4570095"/>
            <a:ext cx="30861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Retrospectiva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58875" y="5151120"/>
            <a:ext cx="2868644" cy="68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Ajustes de proceso para el siguiente sprint.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52500" y="3248025"/>
            <a:ext cx="3867150" cy="2705100"/>
            <a:chOff x="0" y="0"/>
            <a:chExt cx="5156200" cy="360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124450" y="3248025"/>
            <a:ext cx="3867150" cy="2705100"/>
            <a:chOff x="0" y="0"/>
            <a:chExt cx="5156200" cy="360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296400" y="3248025"/>
            <a:ext cx="3867150" cy="2705100"/>
            <a:chOff x="0" y="0"/>
            <a:chExt cx="5156200" cy="3606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8350" y="3248025"/>
            <a:ext cx="3867150" cy="2705100"/>
            <a:chOff x="0" y="0"/>
            <a:chExt cx="5156200" cy="360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56200" cy="3606800"/>
            </a:xfrm>
            <a:custGeom>
              <a:avLst/>
              <a:gdLst/>
              <a:ahLst/>
              <a:cxnLst/>
              <a:rect r="r" b="b" t="t" l="l"/>
              <a:pathLst>
                <a:path h="3606800" w="5156200">
                  <a:moveTo>
                    <a:pt x="203200" y="0"/>
                  </a:moveTo>
                  <a:lnTo>
                    <a:pt x="4953000" y="0"/>
                  </a:lnTo>
                  <a:cubicBezTo>
                    <a:pt x="5065268" y="0"/>
                    <a:pt x="5156200" y="56141"/>
                    <a:pt x="5156200" y="125454"/>
                  </a:cubicBezTo>
                  <a:lnTo>
                    <a:pt x="5156200" y="3481346"/>
                  </a:lnTo>
                  <a:cubicBezTo>
                    <a:pt x="5156200" y="3550659"/>
                    <a:pt x="5065268" y="3606800"/>
                    <a:pt x="4953000" y="3606800"/>
                  </a:cubicBezTo>
                  <a:lnTo>
                    <a:pt x="203200" y="3606800"/>
                  </a:lnTo>
                  <a:cubicBezTo>
                    <a:pt x="90932" y="3606800"/>
                    <a:pt x="0" y="3550659"/>
                    <a:pt x="0" y="3481346"/>
                  </a:cubicBezTo>
                  <a:lnTo>
                    <a:pt x="0" y="125454"/>
                  </a:lnTo>
                  <a:cubicBezTo>
                    <a:pt x="0" y="56141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276302" y="7528135"/>
            <a:ext cx="4192048" cy="2758865"/>
            <a:chOff x="0" y="0"/>
            <a:chExt cx="926277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6277" cy="609600"/>
            </a:xfrm>
            <a:custGeom>
              <a:avLst/>
              <a:gdLst/>
              <a:ahLst/>
              <a:cxnLst/>
              <a:rect r="r" b="b" t="t" l="l"/>
              <a:pathLst>
                <a:path h="609600" w="926277">
                  <a:moveTo>
                    <a:pt x="203200" y="0"/>
                  </a:moveTo>
                  <a:lnTo>
                    <a:pt x="926277" y="0"/>
                  </a:lnTo>
                  <a:lnTo>
                    <a:pt x="72307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66675"/>
              <a:ext cx="723077" cy="67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102997" y="7384264"/>
            <a:ext cx="4568483" cy="3046607"/>
          </a:xfrm>
          <a:custGeom>
            <a:avLst/>
            <a:gdLst/>
            <a:ahLst/>
            <a:cxnLst/>
            <a:rect r="r" b="b" t="t" l="l"/>
            <a:pathLst>
              <a:path h="3046607" w="4568483">
                <a:moveTo>
                  <a:pt x="0" y="0"/>
                </a:moveTo>
                <a:lnTo>
                  <a:pt x="4568482" y="0"/>
                </a:lnTo>
                <a:lnTo>
                  <a:pt x="4568482" y="3046607"/>
                </a:lnTo>
                <a:lnTo>
                  <a:pt x="0" y="304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Stack tecnológico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2238375"/>
            <a:ext cx="7232964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Definición preliminar — sujeta a validación técnica en el Sprint 3.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4925" y="3686175"/>
            <a:ext cx="31623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4925" y="4038600"/>
            <a:ext cx="31623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4925" y="4629150"/>
            <a:ext cx="2217420" cy="68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Interfaz web con mapa interactivo.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76875" y="3686175"/>
            <a:ext cx="31623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76875" y="4038600"/>
            <a:ext cx="31623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Node.js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76875" y="4629150"/>
            <a:ext cx="31623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API REST y lógica de negocio.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8825" y="3686175"/>
            <a:ext cx="31623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BASE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48825" y="4048125"/>
            <a:ext cx="3162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PostgreSQL + PostGIS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8825" y="4572000"/>
            <a:ext cx="2827020" cy="68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Datos relacionales con soporte geoespacial.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20775" y="3686175"/>
            <a:ext cx="31623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INFRAESTRUCTURA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20775" y="4038600"/>
            <a:ext cx="31623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Docker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20775" y="4629150"/>
            <a:ext cx="31623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Entorno reproducible de desarrollo y despliegue.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91465"/>
            <a:ext cx="18288000" cy="10869930"/>
          </a:xfrm>
          <a:custGeom>
            <a:avLst/>
            <a:gdLst/>
            <a:ahLst/>
            <a:cxnLst/>
            <a:rect r="r" b="b" t="t" l="l"/>
            <a:pathLst>
              <a:path h="10869930" w="18288000">
                <a:moveTo>
                  <a:pt x="0" y="0"/>
                </a:moveTo>
                <a:lnTo>
                  <a:pt x="18288000" y="0"/>
                </a:lnTo>
                <a:lnTo>
                  <a:pt x="18288000" y="10869930"/>
                </a:lnTo>
                <a:lnTo>
                  <a:pt x="0" y="10869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Modelo relacional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2238375"/>
            <a:ext cx="7102326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Modelo entidad–relación de las entidades principales del MVP.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11 / 15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3078956"/>
            <a:ext cx="16383000" cy="6667500"/>
          </a:xfrm>
          <a:custGeom>
            <a:avLst/>
            <a:gdLst/>
            <a:ahLst/>
            <a:cxnLst/>
            <a:rect r="r" b="b" t="t" l="l"/>
            <a:pathLst>
              <a:path h="6667500" w="16383000">
                <a:moveTo>
                  <a:pt x="0" y="0"/>
                </a:moveTo>
                <a:lnTo>
                  <a:pt x="16383000" y="0"/>
                </a:lnTo>
                <a:lnTo>
                  <a:pt x="16383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52500" y="3114675"/>
            <a:ext cx="3619500" cy="1714500"/>
            <a:chOff x="0" y="0"/>
            <a:chExt cx="48260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2159000"/>
                  </a:lnTo>
                  <a:cubicBezTo>
                    <a:pt x="4826000" y="2229104"/>
                    <a:pt x="4769104" y="2286000"/>
                    <a:pt x="4699000" y="2286000"/>
                  </a:cubicBezTo>
                  <a:lnTo>
                    <a:pt x="127000" y="2286000"/>
                  </a:lnTo>
                  <a:cubicBezTo>
                    <a:pt x="56896" y="2286000"/>
                    <a:pt x="0" y="2229104"/>
                    <a:pt x="0" y="215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2159000"/>
                  </a:lnTo>
                  <a:cubicBezTo>
                    <a:pt x="4826000" y="2229104"/>
                    <a:pt x="4769104" y="2286000"/>
                    <a:pt x="4699000" y="2286000"/>
                  </a:cubicBezTo>
                  <a:lnTo>
                    <a:pt x="127000" y="2286000"/>
                  </a:lnTo>
                  <a:cubicBezTo>
                    <a:pt x="56896" y="2286000"/>
                    <a:pt x="0" y="2229104"/>
                    <a:pt x="0" y="215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2025" y="3124200"/>
            <a:ext cx="3600450" cy="457200"/>
            <a:chOff x="0" y="0"/>
            <a:chExt cx="48006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006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800600" cy="657225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users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514725"/>
            <a:ext cx="3600450" cy="118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id (PK)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email, name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discipline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honor_score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16000" y="3114675"/>
            <a:ext cx="3619500" cy="1714500"/>
            <a:chOff x="0" y="0"/>
            <a:chExt cx="4826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2159000"/>
                  </a:lnTo>
                  <a:cubicBezTo>
                    <a:pt x="4826000" y="2229104"/>
                    <a:pt x="4769104" y="2286000"/>
                    <a:pt x="4699000" y="2286000"/>
                  </a:cubicBezTo>
                  <a:lnTo>
                    <a:pt x="127000" y="2286000"/>
                  </a:lnTo>
                  <a:cubicBezTo>
                    <a:pt x="56896" y="2286000"/>
                    <a:pt x="0" y="2229104"/>
                    <a:pt x="0" y="215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2159000"/>
                  </a:lnTo>
                  <a:cubicBezTo>
                    <a:pt x="4826000" y="2229104"/>
                    <a:pt x="4769104" y="2286000"/>
                    <a:pt x="4699000" y="2286000"/>
                  </a:cubicBezTo>
                  <a:lnTo>
                    <a:pt x="127000" y="2286000"/>
                  </a:lnTo>
                  <a:cubicBezTo>
                    <a:pt x="56896" y="2286000"/>
                    <a:pt x="0" y="2229104"/>
                    <a:pt x="0" y="2159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5525" y="3124200"/>
            <a:ext cx="3600450" cy="457200"/>
            <a:chOff x="0" y="0"/>
            <a:chExt cx="4800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006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800600" cy="657225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matches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811250" y="3514725"/>
            <a:ext cx="3600450" cy="118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id (PK)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organizer_id (FK)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location (PostGIS)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datetime, status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34250" y="5972175"/>
            <a:ext cx="3619500" cy="1490662"/>
            <a:chOff x="0" y="0"/>
            <a:chExt cx="4826000" cy="1987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6000" cy="1987550"/>
            </a:xfrm>
            <a:custGeom>
              <a:avLst/>
              <a:gdLst/>
              <a:ahLst/>
              <a:cxnLst/>
              <a:rect r="r" b="b" t="t" l="l"/>
              <a:pathLst>
                <a:path h="198755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1860550"/>
                  </a:lnTo>
                  <a:cubicBezTo>
                    <a:pt x="4826000" y="1930654"/>
                    <a:pt x="4769104" y="1987550"/>
                    <a:pt x="4699000" y="1987550"/>
                  </a:cubicBezTo>
                  <a:lnTo>
                    <a:pt x="127000" y="1987550"/>
                  </a:lnTo>
                  <a:cubicBezTo>
                    <a:pt x="56896" y="1987550"/>
                    <a:pt x="0" y="1930654"/>
                    <a:pt x="0" y="186055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26000" cy="1987550"/>
            </a:xfrm>
            <a:custGeom>
              <a:avLst/>
              <a:gdLst/>
              <a:ahLst/>
              <a:cxnLst/>
              <a:rect r="r" b="b" t="t" l="l"/>
              <a:pathLst>
                <a:path h="198755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1860550"/>
                  </a:lnTo>
                  <a:cubicBezTo>
                    <a:pt x="4826000" y="1930654"/>
                    <a:pt x="4769104" y="1987550"/>
                    <a:pt x="4699000" y="1987550"/>
                  </a:cubicBezTo>
                  <a:lnTo>
                    <a:pt x="127000" y="1987550"/>
                  </a:lnTo>
                  <a:cubicBezTo>
                    <a:pt x="56896" y="1987550"/>
                    <a:pt x="0" y="1930654"/>
                    <a:pt x="0" y="186055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0A50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334250" y="5972175"/>
            <a:ext cx="3581400" cy="457200"/>
            <a:chOff x="0" y="0"/>
            <a:chExt cx="47752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7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775200" cy="657225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participations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429500" y="6362700"/>
            <a:ext cx="3581400" cy="94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id (PK)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match_id (FK), user_id (FK)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status, paid_at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2500" y="7686675"/>
            <a:ext cx="3619500" cy="1471612"/>
            <a:chOff x="0" y="0"/>
            <a:chExt cx="4826000" cy="19621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26000" cy="1962150"/>
            </a:xfrm>
            <a:custGeom>
              <a:avLst/>
              <a:gdLst/>
              <a:ahLst/>
              <a:cxnLst/>
              <a:rect r="r" b="b" t="t" l="l"/>
              <a:pathLst>
                <a:path h="196215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1835150"/>
                  </a:lnTo>
                  <a:cubicBezTo>
                    <a:pt x="4826000" y="1905254"/>
                    <a:pt x="4769104" y="1962150"/>
                    <a:pt x="4699000" y="1962150"/>
                  </a:cubicBezTo>
                  <a:lnTo>
                    <a:pt x="127000" y="1962150"/>
                  </a:lnTo>
                  <a:cubicBezTo>
                    <a:pt x="56896" y="1962150"/>
                    <a:pt x="0" y="1905254"/>
                    <a:pt x="0" y="183515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26000" cy="1962150"/>
            </a:xfrm>
            <a:custGeom>
              <a:avLst/>
              <a:gdLst/>
              <a:ahLst/>
              <a:cxnLst/>
              <a:rect r="r" b="b" t="t" l="l"/>
              <a:pathLst>
                <a:path h="196215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1835150"/>
                  </a:lnTo>
                  <a:cubicBezTo>
                    <a:pt x="4826000" y="1905254"/>
                    <a:pt x="4769104" y="1962150"/>
                    <a:pt x="4699000" y="1962150"/>
                  </a:cubicBezTo>
                  <a:lnTo>
                    <a:pt x="127000" y="1962150"/>
                  </a:lnTo>
                  <a:cubicBezTo>
                    <a:pt x="56896" y="1962150"/>
                    <a:pt x="0" y="1905254"/>
                    <a:pt x="0" y="183515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2025" y="7696200"/>
            <a:ext cx="3600450" cy="457200"/>
            <a:chOff x="0" y="0"/>
            <a:chExt cx="48006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006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800600" cy="657225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ratings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28700" y="8086725"/>
            <a:ext cx="3600450" cy="94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id (PK)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rater_id (FK), rated_id (FK)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punctuality, conduct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716000" y="7686675"/>
            <a:ext cx="3619500" cy="1471612"/>
            <a:chOff x="0" y="0"/>
            <a:chExt cx="4826000" cy="19621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26000" cy="1962150"/>
            </a:xfrm>
            <a:custGeom>
              <a:avLst/>
              <a:gdLst/>
              <a:ahLst/>
              <a:cxnLst/>
              <a:rect r="r" b="b" t="t" l="l"/>
              <a:pathLst>
                <a:path h="196215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1835150"/>
                  </a:lnTo>
                  <a:cubicBezTo>
                    <a:pt x="4826000" y="1905254"/>
                    <a:pt x="4769104" y="1962150"/>
                    <a:pt x="4699000" y="1962150"/>
                  </a:cubicBezTo>
                  <a:lnTo>
                    <a:pt x="127000" y="1962150"/>
                  </a:lnTo>
                  <a:cubicBezTo>
                    <a:pt x="56896" y="1962150"/>
                    <a:pt x="0" y="1905254"/>
                    <a:pt x="0" y="183515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26000" cy="1962150"/>
            </a:xfrm>
            <a:custGeom>
              <a:avLst/>
              <a:gdLst/>
              <a:ahLst/>
              <a:cxnLst/>
              <a:rect r="r" b="b" t="t" l="l"/>
              <a:pathLst>
                <a:path h="1962150" w="4826000">
                  <a:moveTo>
                    <a:pt x="127000" y="0"/>
                  </a:moveTo>
                  <a:lnTo>
                    <a:pt x="4699000" y="0"/>
                  </a:lnTo>
                  <a:cubicBezTo>
                    <a:pt x="4769104" y="0"/>
                    <a:pt x="4826000" y="56896"/>
                    <a:pt x="4826000" y="127000"/>
                  </a:cubicBezTo>
                  <a:lnTo>
                    <a:pt x="4826000" y="1835150"/>
                  </a:lnTo>
                  <a:cubicBezTo>
                    <a:pt x="4826000" y="1905254"/>
                    <a:pt x="4769104" y="1962150"/>
                    <a:pt x="4699000" y="1962150"/>
                  </a:cubicBezTo>
                  <a:lnTo>
                    <a:pt x="127000" y="1962150"/>
                  </a:lnTo>
                  <a:cubicBezTo>
                    <a:pt x="56896" y="1962150"/>
                    <a:pt x="0" y="1905254"/>
                    <a:pt x="0" y="183515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25525" y="7696200"/>
            <a:ext cx="3600450" cy="457200"/>
            <a:chOff x="0" y="0"/>
            <a:chExt cx="48006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006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800600" cy="657225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payments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811250" y="8086725"/>
            <a:ext cx="3600450" cy="94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id (PK)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participation_id (FK)</a:t>
            </a:r>
          </a:p>
          <a:p>
            <a:pPr algn="l">
              <a:lnSpc>
                <a:spcPts val="1912"/>
              </a:lnSpc>
            </a:pPr>
            <a:r>
              <a:rPr lang="en-US" sz="11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amount, status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0" t="-9277" r="0" b="-927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21049" y="3286125"/>
            <a:ext cx="3048000" cy="1676400"/>
            <a:chOff x="0" y="0"/>
            <a:chExt cx="4064000" cy="223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4064000">
                  <a:moveTo>
                    <a:pt x="152400" y="0"/>
                  </a:moveTo>
                  <a:lnTo>
                    <a:pt x="3911600" y="0"/>
                  </a:lnTo>
                  <a:cubicBezTo>
                    <a:pt x="3995801" y="0"/>
                    <a:pt x="4064000" y="68199"/>
                    <a:pt x="4064000" y="152400"/>
                  </a:cubicBezTo>
                  <a:lnTo>
                    <a:pt x="4064000" y="2082800"/>
                  </a:lnTo>
                  <a:cubicBezTo>
                    <a:pt x="4064000" y="2167001"/>
                    <a:pt x="3995801" y="2235200"/>
                    <a:pt x="3911600" y="2235200"/>
                  </a:cubicBezTo>
                  <a:lnTo>
                    <a:pt x="152400" y="2235200"/>
                  </a:lnTo>
                  <a:cubicBezTo>
                    <a:pt x="68199" y="2235200"/>
                    <a:pt x="0" y="2167001"/>
                    <a:pt x="0" y="20828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4064000">
                  <a:moveTo>
                    <a:pt x="152400" y="0"/>
                  </a:moveTo>
                  <a:lnTo>
                    <a:pt x="3911600" y="0"/>
                  </a:lnTo>
                  <a:cubicBezTo>
                    <a:pt x="3995801" y="0"/>
                    <a:pt x="4064000" y="68199"/>
                    <a:pt x="4064000" y="152400"/>
                  </a:cubicBezTo>
                  <a:lnTo>
                    <a:pt x="4064000" y="2082800"/>
                  </a:lnTo>
                  <a:cubicBezTo>
                    <a:pt x="4064000" y="2167001"/>
                    <a:pt x="3995801" y="2235200"/>
                    <a:pt x="3911600" y="2235200"/>
                  </a:cubicBezTo>
                  <a:lnTo>
                    <a:pt x="152400" y="2235200"/>
                  </a:lnTo>
                  <a:cubicBezTo>
                    <a:pt x="68199" y="2235200"/>
                    <a:pt x="0" y="2167001"/>
                    <a:pt x="0" y="20828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0A50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620000" y="3286125"/>
            <a:ext cx="3048000" cy="1676400"/>
            <a:chOff x="0" y="0"/>
            <a:chExt cx="4064000" cy="223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4064000">
                  <a:moveTo>
                    <a:pt x="152400" y="0"/>
                  </a:moveTo>
                  <a:lnTo>
                    <a:pt x="3911600" y="0"/>
                  </a:lnTo>
                  <a:cubicBezTo>
                    <a:pt x="3995801" y="0"/>
                    <a:pt x="4064000" y="68199"/>
                    <a:pt x="4064000" y="152400"/>
                  </a:cubicBezTo>
                  <a:lnTo>
                    <a:pt x="4064000" y="2082800"/>
                  </a:lnTo>
                  <a:cubicBezTo>
                    <a:pt x="4064000" y="2167001"/>
                    <a:pt x="3995801" y="2235200"/>
                    <a:pt x="3911600" y="2235200"/>
                  </a:cubicBezTo>
                  <a:lnTo>
                    <a:pt x="152400" y="2235200"/>
                  </a:lnTo>
                  <a:cubicBezTo>
                    <a:pt x="68199" y="2235200"/>
                    <a:pt x="0" y="2167001"/>
                    <a:pt x="0" y="20828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4064000">
                  <a:moveTo>
                    <a:pt x="152400" y="0"/>
                  </a:moveTo>
                  <a:lnTo>
                    <a:pt x="3911600" y="0"/>
                  </a:lnTo>
                  <a:cubicBezTo>
                    <a:pt x="3995801" y="0"/>
                    <a:pt x="4064000" y="68199"/>
                    <a:pt x="4064000" y="152400"/>
                  </a:cubicBezTo>
                  <a:lnTo>
                    <a:pt x="4064000" y="2082800"/>
                  </a:lnTo>
                  <a:cubicBezTo>
                    <a:pt x="4064000" y="2167001"/>
                    <a:pt x="3995801" y="2235200"/>
                    <a:pt x="3911600" y="2235200"/>
                  </a:cubicBezTo>
                  <a:lnTo>
                    <a:pt x="152400" y="2235200"/>
                  </a:lnTo>
                  <a:cubicBezTo>
                    <a:pt x="68199" y="2235200"/>
                    <a:pt x="0" y="2167001"/>
                    <a:pt x="0" y="20828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0A5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418951" y="3300412"/>
            <a:ext cx="3048000" cy="1647825"/>
            <a:chOff x="0" y="0"/>
            <a:chExt cx="4064000" cy="219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0" cy="2197100"/>
            </a:xfrm>
            <a:custGeom>
              <a:avLst/>
              <a:gdLst/>
              <a:ahLst/>
              <a:cxnLst/>
              <a:rect r="r" b="b" t="t" l="l"/>
              <a:pathLst>
                <a:path h="2197100" w="4064000">
                  <a:moveTo>
                    <a:pt x="152400" y="0"/>
                  </a:moveTo>
                  <a:lnTo>
                    <a:pt x="3911600" y="0"/>
                  </a:lnTo>
                  <a:cubicBezTo>
                    <a:pt x="3995801" y="0"/>
                    <a:pt x="4064000" y="68199"/>
                    <a:pt x="4064000" y="152400"/>
                  </a:cubicBezTo>
                  <a:lnTo>
                    <a:pt x="4064000" y="2044700"/>
                  </a:lnTo>
                  <a:cubicBezTo>
                    <a:pt x="4064000" y="2128901"/>
                    <a:pt x="3995801" y="2197100"/>
                    <a:pt x="3911600" y="2197100"/>
                  </a:cubicBezTo>
                  <a:lnTo>
                    <a:pt x="152400" y="2197100"/>
                  </a:lnTo>
                  <a:cubicBezTo>
                    <a:pt x="68199" y="2197100"/>
                    <a:pt x="0" y="2128901"/>
                    <a:pt x="0" y="20447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2197100"/>
            </a:xfrm>
            <a:custGeom>
              <a:avLst/>
              <a:gdLst/>
              <a:ahLst/>
              <a:cxnLst/>
              <a:rect r="r" b="b" t="t" l="l"/>
              <a:pathLst>
                <a:path h="2197100" w="4064000">
                  <a:moveTo>
                    <a:pt x="152400" y="0"/>
                  </a:moveTo>
                  <a:lnTo>
                    <a:pt x="3911600" y="0"/>
                  </a:lnTo>
                  <a:cubicBezTo>
                    <a:pt x="3995801" y="0"/>
                    <a:pt x="4064000" y="68199"/>
                    <a:pt x="4064000" y="152400"/>
                  </a:cubicBezTo>
                  <a:lnTo>
                    <a:pt x="4064000" y="2044700"/>
                  </a:lnTo>
                  <a:cubicBezTo>
                    <a:pt x="4064000" y="2128901"/>
                    <a:pt x="3995801" y="2197100"/>
                    <a:pt x="3911600" y="2197100"/>
                  </a:cubicBezTo>
                  <a:lnTo>
                    <a:pt x="152400" y="2197100"/>
                  </a:lnTo>
                  <a:cubicBezTo>
                    <a:pt x="68199" y="2197100"/>
                    <a:pt x="0" y="2128901"/>
                    <a:pt x="0" y="20447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0A5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392388" y="5495925"/>
            <a:ext cx="3827240" cy="857250"/>
            <a:chOff x="0" y="0"/>
            <a:chExt cx="5102987" cy="114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2987" cy="1143000"/>
            </a:xfrm>
            <a:custGeom>
              <a:avLst/>
              <a:gdLst/>
              <a:ahLst/>
              <a:cxnLst/>
              <a:rect r="r" b="b" t="t" l="l"/>
              <a:pathLst>
                <a:path h="1143000" w="5102987">
                  <a:moveTo>
                    <a:pt x="127000" y="0"/>
                  </a:moveTo>
                  <a:lnTo>
                    <a:pt x="4975987" y="0"/>
                  </a:lnTo>
                  <a:cubicBezTo>
                    <a:pt x="5046091" y="0"/>
                    <a:pt x="5102987" y="56896"/>
                    <a:pt x="5102987" y="127000"/>
                  </a:cubicBezTo>
                  <a:lnTo>
                    <a:pt x="5102987" y="1016000"/>
                  </a:lnTo>
                  <a:cubicBezTo>
                    <a:pt x="5102987" y="1086104"/>
                    <a:pt x="5046091" y="1143000"/>
                    <a:pt x="4975987" y="1143000"/>
                  </a:cubicBezTo>
                  <a:lnTo>
                    <a:pt x="127000" y="1143000"/>
                  </a:lnTo>
                  <a:cubicBezTo>
                    <a:pt x="56896" y="1143000"/>
                    <a:pt x="0" y="1086104"/>
                    <a:pt x="0" y="1016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02987" cy="1143000"/>
            </a:xfrm>
            <a:custGeom>
              <a:avLst/>
              <a:gdLst/>
              <a:ahLst/>
              <a:cxnLst/>
              <a:rect r="r" b="b" t="t" l="l"/>
              <a:pathLst>
                <a:path h="1143000" w="5102987">
                  <a:moveTo>
                    <a:pt x="127000" y="0"/>
                  </a:moveTo>
                  <a:lnTo>
                    <a:pt x="4975987" y="0"/>
                  </a:lnTo>
                  <a:cubicBezTo>
                    <a:pt x="5046091" y="0"/>
                    <a:pt x="5102987" y="56896"/>
                    <a:pt x="5102987" y="127000"/>
                  </a:cubicBezTo>
                  <a:lnTo>
                    <a:pt x="5102987" y="1016000"/>
                  </a:lnTo>
                  <a:cubicBezTo>
                    <a:pt x="5102987" y="1086104"/>
                    <a:pt x="5046091" y="1143000"/>
                    <a:pt x="4975987" y="1143000"/>
                  </a:cubicBezTo>
                  <a:lnTo>
                    <a:pt x="127000" y="1143000"/>
                  </a:lnTo>
                  <a:cubicBezTo>
                    <a:pt x="56896" y="1143000"/>
                    <a:pt x="0" y="1086104"/>
                    <a:pt x="0" y="1016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00628" y="5495925"/>
            <a:ext cx="3294888" cy="857250"/>
            <a:chOff x="0" y="0"/>
            <a:chExt cx="4393184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93184" cy="1143000"/>
            </a:xfrm>
            <a:custGeom>
              <a:avLst/>
              <a:gdLst/>
              <a:ahLst/>
              <a:cxnLst/>
              <a:rect r="r" b="b" t="t" l="l"/>
              <a:pathLst>
                <a:path h="1143000" w="4393184">
                  <a:moveTo>
                    <a:pt x="127000" y="0"/>
                  </a:moveTo>
                  <a:lnTo>
                    <a:pt x="4266184" y="0"/>
                  </a:lnTo>
                  <a:cubicBezTo>
                    <a:pt x="4336288" y="0"/>
                    <a:pt x="4393184" y="56896"/>
                    <a:pt x="4393184" y="127000"/>
                  </a:cubicBezTo>
                  <a:lnTo>
                    <a:pt x="4393184" y="1016000"/>
                  </a:lnTo>
                  <a:cubicBezTo>
                    <a:pt x="4393184" y="1086104"/>
                    <a:pt x="4336288" y="1143000"/>
                    <a:pt x="4266184" y="1143000"/>
                  </a:cubicBezTo>
                  <a:lnTo>
                    <a:pt x="127000" y="1143000"/>
                  </a:lnTo>
                  <a:cubicBezTo>
                    <a:pt x="56896" y="1143000"/>
                    <a:pt x="0" y="1086104"/>
                    <a:pt x="0" y="1016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93184" cy="1143000"/>
            </a:xfrm>
            <a:custGeom>
              <a:avLst/>
              <a:gdLst/>
              <a:ahLst/>
              <a:cxnLst/>
              <a:rect r="r" b="b" t="t" l="l"/>
              <a:pathLst>
                <a:path h="1143000" w="4393184">
                  <a:moveTo>
                    <a:pt x="127000" y="0"/>
                  </a:moveTo>
                  <a:lnTo>
                    <a:pt x="4266184" y="0"/>
                  </a:lnTo>
                  <a:cubicBezTo>
                    <a:pt x="4336288" y="0"/>
                    <a:pt x="4393184" y="56896"/>
                    <a:pt x="4393184" y="127000"/>
                  </a:cubicBezTo>
                  <a:lnTo>
                    <a:pt x="4393184" y="1016000"/>
                  </a:lnTo>
                  <a:cubicBezTo>
                    <a:pt x="4393184" y="1086104"/>
                    <a:pt x="4336288" y="1143000"/>
                    <a:pt x="4266184" y="1143000"/>
                  </a:cubicBezTo>
                  <a:lnTo>
                    <a:pt x="127000" y="1143000"/>
                  </a:lnTo>
                  <a:cubicBezTo>
                    <a:pt x="56896" y="1143000"/>
                    <a:pt x="0" y="1086104"/>
                    <a:pt x="0" y="10160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del sistema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82999" y="3657600"/>
            <a:ext cx="23241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b="true" sz="1125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CLIENTE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82999" y="3905250"/>
            <a:ext cx="23241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82999" y="4333875"/>
            <a:ext cx="2324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React + Leaflet.js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7649" y="3705225"/>
            <a:ext cx="2937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&gt;&gt;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81950" y="3657600"/>
            <a:ext cx="23241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b="true" sz="1125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SERVIDOR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81950" y="3905250"/>
            <a:ext cx="23241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REST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81950" y="4333875"/>
            <a:ext cx="2324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Node.js + Express + JWT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96600" y="3705225"/>
            <a:ext cx="2937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&gt;&gt;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80901" y="3671887"/>
            <a:ext cx="23241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b="true" sz="1125" spc="75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PERSISTENCIA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80901" y="3919537"/>
            <a:ext cx="23241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b="true" sz="19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PostgreSQL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80901" y="4319587"/>
            <a:ext cx="2324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+ extensión PostGIS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06713" y="5667375"/>
            <a:ext cx="319859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050" spc="74">
                <a:solidFill>
                  <a:srgbClr val="B0B0B0"/>
                </a:solidFill>
                <a:latin typeface="Roboto Bold"/>
                <a:ea typeface="Roboto Bold"/>
                <a:cs typeface="Roboto Bold"/>
                <a:sym typeface="Roboto Bold"/>
              </a:rPr>
              <a:t>SERVICIO EXTERNO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06713" y="5876925"/>
            <a:ext cx="319859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Pasarela de Pago · Transbank / Stripe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14954" y="5667375"/>
            <a:ext cx="266623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050" spc="74">
                <a:solidFill>
                  <a:srgbClr val="B0B0B0"/>
                </a:solidFill>
                <a:latin typeface="Roboto Bold"/>
                <a:ea typeface="Roboto Bold"/>
                <a:cs typeface="Roboto Bold"/>
                <a:sym typeface="Roboto Bold"/>
              </a:rPr>
              <a:t>SERVICIO EXTERNO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14954" y="5876925"/>
            <a:ext cx="266623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de Mapas · OpenStreetMap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Mockups conceptuales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13 / 15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15000" y="2486025"/>
            <a:ext cx="3048000" cy="6286500"/>
            <a:chOff x="0" y="0"/>
            <a:chExt cx="4064000" cy="838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4064000">
                  <a:moveTo>
                    <a:pt x="457200" y="0"/>
                  </a:moveTo>
                  <a:lnTo>
                    <a:pt x="3606800" y="0"/>
                  </a:lnTo>
                  <a:cubicBezTo>
                    <a:pt x="3859276" y="0"/>
                    <a:pt x="4064000" y="204724"/>
                    <a:pt x="4064000" y="457200"/>
                  </a:cubicBezTo>
                  <a:lnTo>
                    <a:pt x="4064000" y="7924800"/>
                  </a:lnTo>
                  <a:cubicBezTo>
                    <a:pt x="4064000" y="8177276"/>
                    <a:pt x="3859276" y="8382000"/>
                    <a:pt x="3606800" y="8382000"/>
                  </a:cubicBezTo>
                  <a:lnTo>
                    <a:pt x="457200" y="8382000"/>
                  </a:lnTo>
                  <a:cubicBezTo>
                    <a:pt x="204724" y="8382000"/>
                    <a:pt x="0" y="8177276"/>
                    <a:pt x="0" y="7924800"/>
                  </a:cubicBezTo>
                  <a:lnTo>
                    <a:pt x="0" y="457200"/>
                  </a:lnTo>
                  <a:cubicBezTo>
                    <a:pt x="0" y="204724"/>
                    <a:pt x="204724" y="0"/>
                    <a:pt x="457200" y="0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4064000">
                  <a:moveTo>
                    <a:pt x="457200" y="0"/>
                  </a:moveTo>
                  <a:lnTo>
                    <a:pt x="3606800" y="0"/>
                  </a:lnTo>
                  <a:cubicBezTo>
                    <a:pt x="3859276" y="0"/>
                    <a:pt x="4064000" y="204724"/>
                    <a:pt x="4064000" y="457200"/>
                  </a:cubicBezTo>
                  <a:lnTo>
                    <a:pt x="4064000" y="7924800"/>
                  </a:lnTo>
                  <a:cubicBezTo>
                    <a:pt x="4064000" y="8177276"/>
                    <a:pt x="3859276" y="8382000"/>
                    <a:pt x="3606800" y="8382000"/>
                  </a:cubicBezTo>
                  <a:lnTo>
                    <a:pt x="457200" y="8382000"/>
                  </a:lnTo>
                  <a:cubicBezTo>
                    <a:pt x="204724" y="8382000"/>
                    <a:pt x="0" y="8177276"/>
                    <a:pt x="0" y="7924800"/>
                  </a:cubicBezTo>
                  <a:lnTo>
                    <a:pt x="0" y="457200"/>
                  </a:lnTo>
                  <a:cubicBezTo>
                    <a:pt x="0" y="204724"/>
                    <a:pt x="204724" y="0"/>
                    <a:pt x="457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895975" y="2667000"/>
            <a:ext cx="2686050" cy="5924550"/>
            <a:chOff x="0" y="0"/>
            <a:chExt cx="3581400" cy="789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81400" cy="7899400"/>
            </a:xfrm>
            <a:custGeom>
              <a:avLst/>
              <a:gdLst/>
              <a:ahLst/>
              <a:cxnLst/>
              <a:rect r="r" b="b" t="t" l="l"/>
              <a:pathLst>
                <a:path h="7899400" w="3581400">
                  <a:moveTo>
                    <a:pt x="279400" y="0"/>
                  </a:moveTo>
                  <a:lnTo>
                    <a:pt x="3302000" y="0"/>
                  </a:lnTo>
                  <a:cubicBezTo>
                    <a:pt x="3456305" y="0"/>
                    <a:pt x="3581400" y="125095"/>
                    <a:pt x="3581400" y="279400"/>
                  </a:cubicBezTo>
                  <a:lnTo>
                    <a:pt x="3581400" y="7620000"/>
                  </a:lnTo>
                  <a:cubicBezTo>
                    <a:pt x="3581400" y="7774305"/>
                    <a:pt x="3456305" y="7899400"/>
                    <a:pt x="3302000" y="7899400"/>
                  </a:cubicBezTo>
                  <a:lnTo>
                    <a:pt x="279400" y="7899400"/>
                  </a:lnTo>
                  <a:cubicBezTo>
                    <a:pt x="125095" y="7899400"/>
                    <a:pt x="0" y="7774305"/>
                    <a:pt x="0" y="7620000"/>
                  </a:cubicBezTo>
                  <a:lnTo>
                    <a:pt x="0" y="279400"/>
                  </a:lnTo>
                  <a:cubicBezTo>
                    <a:pt x="0" y="125095"/>
                    <a:pt x="125095" y="0"/>
                    <a:pt x="279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29325" y="2819400"/>
            <a:ext cx="694563" cy="266700"/>
            <a:chOff x="0" y="0"/>
            <a:chExt cx="926084" cy="35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084" cy="355600"/>
            </a:xfrm>
            <a:custGeom>
              <a:avLst/>
              <a:gdLst/>
              <a:ahLst/>
              <a:cxnLst/>
              <a:rect r="r" b="b" t="t" l="l"/>
              <a:pathLst>
                <a:path h="355600" w="926084">
                  <a:moveTo>
                    <a:pt x="177800" y="0"/>
                  </a:moveTo>
                  <a:lnTo>
                    <a:pt x="748284" y="0"/>
                  </a:lnTo>
                  <a:cubicBezTo>
                    <a:pt x="846455" y="0"/>
                    <a:pt x="926084" y="79629"/>
                    <a:pt x="926084" y="177800"/>
                  </a:cubicBezTo>
                  <a:cubicBezTo>
                    <a:pt x="926084" y="275971"/>
                    <a:pt x="846455" y="355600"/>
                    <a:pt x="748284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26084" cy="374650"/>
            </a:xfrm>
            <a:prstGeom prst="rect">
              <a:avLst/>
            </a:prstGeom>
          </p:spPr>
          <p:txBody>
            <a:bodyPr anchor="t" rtlCol="false" tIns="76200" lIns="76200" bIns="76200" rIns="7620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⚽ Fútbol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00088" y="2819400"/>
            <a:ext cx="681038" cy="266700"/>
            <a:chOff x="0" y="0"/>
            <a:chExt cx="908050" cy="35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8050" cy="355600"/>
            </a:xfrm>
            <a:custGeom>
              <a:avLst/>
              <a:gdLst/>
              <a:ahLst/>
              <a:cxnLst/>
              <a:rect r="r" b="b" t="t" l="l"/>
              <a:pathLst>
                <a:path h="355600" w="908050">
                  <a:moveTo>
                    <a:pt x="177800" y="0"/>
                  </a:moveTo>
                  <a:lnTo>
                    <a:pt x="730250" y="0"/>
                  </a:lnTo>
                  <a:cubicBezTo>
                    <a:pt x="828421" y="0"/>
                    <a:pt x="908050" y="79629"/>
                    <a:pt x="908050" y="177800"/>
                  </a:cubicBezTo>
                  <a:cubicBezTo>
                    <a:pt x="908050" y="275971"/>
                    <a:pt x="828421" y="355600"/>
                    <a:pt x="73025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8050" cy="355600"/>
            </a:xfrm>
            <a:custGeom>
              <a:avLst/>
              <a:gdLst/>
              <a:ahLst/>
              <a:cxnLst/>
              <a:rect r="r" b="b" t="t" l="l"/>
              <a:pathLst>
                <a:path h="355600" w="908050">
                  <a:moveTo>
                    <a:pt x="177800" y="0"/>
                  </a:moveTo>
                  <a:lnTo>
                    <a:pt x="730250" y="0"/>
                  </a:lnTo>
                  <a:cubicBezTo>
                    <a:pt x="828421" y="0"/>
                    <a:pt x="908050" y="79629"/>
                    <a:pt x="908050" y="177800"/>
                  </a:cubicBezTo>
                  <a:cubicBezTo>
                    <a:pt x="908050" y="275971"/>
                    <a:pt x="828421" y="355600"/>
                    <a:pt x="73025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08050" cy="37465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B0B0B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🎾 Pádel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57325" y="2819400"/>
            <a:ext cx="812197" cy="266700"/>
            <a:chOff x="0" y="0"/>
            <a:chExt cx="1082929" cy="355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2929" cy="355600"/>
            </a:xfrm>
            <a:custGeom>
              <a:avLst/>
              <a:gdLst/>
              <a:ahLst/>
              <a:cxnLst/>
              <a:rect r="r" b="b" t="t" l="l"/>
              <a:pathLst>
                <a:path h="355600" w="1082929">
                  <a:moveTo>
                    <a:pt x="177800" y="0"/>
                  </a:moveTo>
                  <a:lnTo>
                    <a:pt x="905129" y="0"/>
                  </a:lnTo>
                  <a:cubicBezTo>
                    <a:pt x="1003300" y="0"/>
                    <a:pt x="1082929" y="79629"/>
                    <a:pt x="1082929" y="177800"/>
                  </a:cubicBezTo>
                  <a:cubicBezTo>
                    <a:pt x="1082929" y="275971"/>
                    <a:pt x="1003300" y="355600"/>
                    <a:pt x="905129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2929" cy="355600"/>
            </a:xfrm>
            <a:custGeom>
              <a:avLst/>
              <a:gdLst/>
              <a:ahLst/>
              <a:cxnLst/>
              <a:rect r="r" b="b" t="t" l="l"/>
              <a:pathLst>
                <a:path h="355600" w="1082929">
                  <a:moveTo>
                    <a:pt x="177800" y="0"/>
                  </a:moveTo>
                  <a:lnTo>
                    <a:pt x="905129" y="0"/>
                  </a:lnTo>
                  <a:cubicBezTo>
                    <a:pt x="1003300" y="0"/>
                    <a:pt x="1082929" y="79629"/>
                    <a:pt x="1082929" y="177800"/>
                  </a:cubicBezTo>
                  <a:cubicBezTo>
                    <a:pt x="1082929" y="275971"/>
                    <a:pt x="1003300" y="355600"/>
                    <a:pt x="905129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82929" cy="37465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B0B0B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🏀 Básquet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95975" y="3333750"/>
            <a:ext cx="2686050" cy="3448050"/>
            <a:chOff x="0" y="0"/>
            <a:chExt cx="3581400" cy="459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814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3581400">
                  <a:moveTo>
                    <a:pt x="0" y="0"/>
                  </a:moveTo>
                  <a:lnTo>
                    <a:pt x="3581400" y="0"/>
                  </a:lnTo>
                  <a:lnTo>
                    <a:pt x="3581400" y="4597400"/>
                  </a:lnTo>
                  <a:lnTo>
                    <a:pt x="0" y="459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814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3581400">
                  <a:moveTo>
                    <a:pt x="0" y="0"/>
                  </a:moveTo>
                  <a:lnTo>
                    <a:pt x="3581400" y="0"/>
                  </a:lnTo>
                  <a:lnTo>
                    <a:pt x="3581400" y="4597400"/>
                  </a:lnTo>
                  <a:lnTo>
                    <a:pt x="0" y="459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62725" y="3905250"/>
            <a:ext cx="247650" cy="247650"/>
            <a:chOff x="0" y="0"/>
            <a:chExt cx="330200" cy="330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165100" y="0"/>
                  </a:move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ubicBezTo>
                    <a:pt x="0" y="73914"/>
                    <a:pt x="73914" y="0"/>
                    <a:pt x="1651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30200" cy="3587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470"/>
                </a:lnSpc>
              </a:pPr>
              <a:r>
                <a:rPr lang="en-US" sz="105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⚽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10475" y="4762500"/>
            <a:ext cx="323850" cy="323850"/>
            <a:chOff x="0" y="0"/>
            <a:chExt cx="431800" cy="431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ubicBezTo>
                    <a:pt x="0" y="96647"/>
                    <a:pt x="96647" y="0"/>
                    <a:pt x="2159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82550" lIns="82550" bIns="82550" rIns="82550"/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⚽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48475" y="5524500"/>
            <a:ext cx="247650" cy="247650"/>
            <a:chOff x="0" y="0"/>
            <a:chExt cx="330200" cy="330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165100" y="0"/>
                  </a:move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ubicBezTo>
                    <a:pt x="0" y="73914"/>
                    <a:pt x="73914" y="0"/>
                    <a:pt x="1651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30200" cy="3587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470"/>
                </a:lnSpc>
              </a:pPr>
              <a:r>
                <a:rPr lang="en-US" sz="10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🎾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895975" y="6972300"/>
            <a:ext cx="2686050" cy="1619250"/>
            <a:chOff x="0" y="0"/>
            <a:chExt cx="3581400" cy="2159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814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81400">
                  <a:moveTo>
                    <a:pt x="228600" y="0"/>
                  </a:moveTo>
                  <a:lnTo>
                    <a:pt x="3352800" y="0"/>
                  </a:lnTo>
                  <a:cubicBezTo>
                    <a:pt x="3479038" y="0"/>
                    <a:pt x="3581400" y="102362"/>
                    <a:pt x="3581400" y="228600"/>
                  </a:cubicBezTo>
                  <a:lnTo>
                    <a:pt x="3581400" y="2159000"/>
                  </a:lnTo>
                  <a:lnTo>
                    <a:pt x="0" y="2159000"/>
                  </a:ln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</p:grpSp>
      <p:sp>
        <p:nvSpPr>
          <p:cNvPr name="AutoShape 36" id="36"/>
          <p:cNvSpPr/>
          <p:nvPr/>
        </p:nvSpPr>
        <p:spPr>
          <a:xfrm rot="0">
            <a:off x="5895975" y="6972300"/>
            <a:ext cx="2686050" cy="9525"/>
          </a:xfrm>
          <a:prstGeom prst="rect">
            <a:avLst/>
          </a:prstGeom>
          <a:solidFill>
            <a:srgbClr val="3A3A3A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6086475" y="7124700"/>
            <a:ext cx="146399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Fútbol 5 · Cancha Sur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83201" y="7153275"/>
            <a:ext cx="30842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19:00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086475" y="7353300"/>
            <a:ext cx="230505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📍 La Florida · Nivel medio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86475" y="7743825"/>
            <a:ext cx="230505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6/8 jugadores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086475" y="8020050"/>
            <a:ext cx="2305050" cy="400050"/>
            <a:chOff x="0" y="0"/>
            <a:chExt cx="3073400" cy="533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7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73400">
                  <a:moveTo>
                    <a:pt x="101600" y="0"/>
                  </a:moveTo>
                  <a:lnTo>
                    <a:pt x="2971800" y="0"/>
                  </a:lnTo>
                  <a:cubicBezTo>
                    <a:pt x="3027934" y="0"/>
                    <a:pt x="3073400" y="45466"/>
                    <a:pt x="3073400" y="101600"/>
                  </a:cubicBezTo>
                  <a:lnTo>
                    <a:pt x="3073400" y="431800"/>
                  </a:lnTo>
                  <a:cubicBezTo>
                    <a:pt x="3073400" y="487934"/>
                    <a:pt x="3027934" y="533400"/>
                    <a:pt x="2971800" y="533400"/>
                  </a:cubicBezTo>
                  <a:lnTo>
                    <a:pt x="101600" y="533400"/>
                  </a:lnTo>
                  <a:cubicBezTo>
                    <a:pt x="45466" y="533400"/>
                    <a:pt x="0" y="487934"/>
                    <a:pt x="0" y="4318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073400" cy="561975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ctr">
                <a:lnSpc>
                  <a:spcPts val="1574"/>
                </a:lnSpc>
              </a:pPr>
              <a:r>
                <a:rPr lang="en-US" b="true" sz="1125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FALTA 2 »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086475" y="7629525"/>
            <a:ext cx="2305050" cy="76200"/>
            <a:chOff x="0" y="0"/>
            <a:chExt cx="3073400" cy="10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73400" cy="101600"/>
            </a:xfrm>
            <a:custGeom>
              <a:avLst/>
              <a:gdLst/>
              <a:ahLst/>
              <a:cxnLst/>
              <a:rect r="r" b="b" t="t" l="l"/>
              <a:pathLst>
                <a:path h="101600" w="3073400">
                  <a:moveTo>
                    <a:pt x="50800" y="0"/>
                  </a:moveTo>
                  <a:lnTo>
                    <a:pt x="3022600" y="0"/>
                  </a:lnTo>
                  <a:cubicBezTo>
                    <a:pt x="3050667" y="0"/>
                    <a:pt x="3073400" y="22733"/>
                    <a:pt x="3073400" y="50800"/>
                  </a:cubicBezTo>
                  <a:cubicBezTo>
                    <a:pt x="3073400" y="78867"/>
                    <a:pt x="3050667" y="101600"/>
                    <a:pt x="3022600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ubicBezTo>
                    <a:pt x="0" y="22733"/>
                    <a:pt x="22733" y="0"/>
                    <a:pt x="508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AutoShape 46" id="46"/>
          <p:cNvSpPr/>
          <p:nvPr/>
        </p:nvSpPr>
        <p:spPr>
          <a:xfrm rot="0">
            <a:off x="6086475" y="7629525"/>
            <a:ext cx="1728788" cy="76200"/>
          </a:xfrm>
          <a:prstGeom prst="rect">
            <a:avLst/>
          </a:prstGeom>
          <a:solidFill>
            <a:srgbClr val="F0A500"/>
          </a:solidFill>
        </p:spPr>
      </p:sp>
      <p:grpSp>
        <p:nvGrpSpPr>
          <p:cNvPr name="Group 47" id="47"/>
          <p:cNvGrpSpPr/>
          <p:nvPr/>
        </p:nvGrpSpPr>
        <p:grpSpPr>
          <a:xfrm rot="0">
            <a:off x="9525000" y="2486025"/>
            <a:ext cx="3048000" cy="6286500"/>
            <a:chOff x="0" y="0"/>
            <a:chExt cx="4064000" cy="8382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6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4064000">
                  <a:moveTo>
                    <a:pt x="457200" y="0"/>
                  </a:moveTo>
                  <a:lnTo>
                    <a:pt x="3606800" y="0"/>
                  </a:lnTo>
                  <a:cubicBezTo>
                    <a:pt x="3859276" y="0"/>
                    <a:pt x="4064000" y="204724"/>
                    <a:pt x="4064000" y="457200"/>
                  </a:cubicBezTo>
                  <a:lnTo>
                    <a:pt x="4064000" y="7924800"/>
                  </a:lnTo>
                  <a:cubicBezTo>
                    <a:pt x="4064000" y="8177276"/>
                    <a:pt x="3859276" y="8382000"/>
                    <a:pt x="3606800" y="8382000"/>
                  </a:cubicBezTo>
                  <a:lnTo>
                    <a:pt x="457200" y="8382000"/>
                  </a:lnTo>
                  <a:cubicBezTo>
                    <a:pt x="204724" y="8382000"/>
                    <a:pt x="0" y="8177276"/>
                    <a:pt x="0" y="7924800"/>
                  </a:cubicBezTo>
                  <a:lnTo>
                    <a:pt x="0" y="457200"/>
                  </a:lnTo>
                  <a:cubicBezTo>
                    <a:pt x="0" y="204724"/>
                    <a:pt x="204724" y="0"/>
                    <a:pt x="457200" y="0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6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4064000">
                  <a:moveTo>
                    <a:pt x="457200" y="0"/>
                  </a:moveTo>
                  <a:lnTo>
                    <a:pt x="3606800" y="0"/>
                  </a:lnTo>
                  <a:cubicBezTo>
                    <a:pt x="3859276" y="0"/>
                    <a:pt x="4064000" y="204724"/>
                    <a:pt x="4064000" y="457200"/>
                  </a:cubicBezTo>
                  <a:lnTo>
                    <a:pt x="4064000" y="7924800"/>
                  </a:lnTo>
                  <a:cubicBezTo>
                    <a:pt x="4064000" y="8177276"/>
                    <a:pt x="3859276" y="8382000"/>
                    <a:pt x="3606800" y="8382000"/>
                  </a:cubicBezTo>
                  <a:lnTo>
                    <a:pt x="457200" y="8382000"/>
                  </a:lnTo>
                  <a:cubicBezTo>
                    <a:pt x="204724" y="8382000"/>
                    <a:pt x="0" y="8177276"/>
                    <a:pt x="0" y="7924800"/>
                  </a:cubicBezTo>
                  <a:lnTo>
                    <a:pt x="0" y="457200"/>
                  </a:lnTo>
                  <a:cubicBezTo>
                    <a:pt x="0" y="204724"/>
                    <a:pt x="204724" y="0"/>
                    <a:pt x="457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705975" y="2667000"/>
            <a:ext cx="2686050" cy="5924550"/>
            <a:chOff x="0" y="0"/>
            <a:chExt cx="3581400" cy="7899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81400" cy="7899400"/>
            </a:xfrm>
            <a:custGeom>
              <a:avLst/>
              <a:gdLst/>
              <a:ahLst/>
              <a:cxnLst/>
              <a:rect r="r" b="b" t="t" l="l"/>
              <a:pathLst>
                <a:path h="7899400" w="3581400">
                  <a:moveTo>
                    <a:pt x="279400" y="0"/>
                  </a:moveTo>
                  <a:lnTo>
                    <a:pt x="3302000" y="0"/>
                  </a:lnTo>
                  <a:cubicBezTo>
                    <a:pt x="3456305" y="0"/>
                    <a:pt x="3581400" y="125095"/>
                    <a:pt x="3581400" y="279400"/>
                  </a:cubicBezTo>
                  <a:lnTo>
                    <a:pt x="3581400" y="7620000"/>
                  </a:lnTo>
                  <a:cubicBezTo>
                    <a:pt x="3581400" y="7774305"/>
                    <a:pt x="3456305" y="7899400"/>
                    <a:pt x="3302000" y="7899400"/>
                  </a:cubicBezTo>
                  <a:lnTo>
                    <a:pt x="279400" y="7899400"/>
                  </a:lnTo>
                  <a:cubicBezTo>
                    <a:pt x="125095" y="7899400"/>
                    <a:pt x="0" y="7774305"/>
                    <a:pt x="0" y="7620000"/>
                  </a:cubicBezTo>
                  <a:lnTo>
                    <a:pt x="0" y="279400"/>
                  </a:lnTo>
                  <a:cubicBezTo>
                    <a:pt x="0" y="125095"/>
                    <a:pt x="125095" y="0"/>
                    <a:pt x="2794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629900" y="2933700"/>
            <a:ext cx="838200" cy="838200"/>
            <a:chOff x="0" y="0"/>
            <a:chExt cx="1117600" cy="1117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558800" y="0"/>
                  </a:move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47A3A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0678096" y="3876675"/>
            <a:ext cx="74161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Lukas G.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23017" y="4171950"/>
            <a:ext cx="1251966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⚽ Fútbol · Agente libre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801350" y="4486275"/>
            <a:ext cx="495300" cy="495300"/>
            <a:chOff x="0" y="0"/>
            <a:chExt cx="660400" cy="660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72" y="0"/>
                    <a:pt x="660400" y="147828"/>
                    <a:pt x="660400" y="330200"/>
                  </a:cubicBezTo>
                  <a:cubicBezTo>
                    <a:pt x="660400" y="512572"/>
                    <a:pt x="512572" y="660400"/>
                    <a:pt x="330200" y="660400"/>
                  </a:cubicBezTo>
                  <a:cubicBezTo>
                    <a:pt x="147828" y="660400"/>
                    <a:pt x="0" y="512572"/>
                    <a:pt x="0" y="330200"/>
                  </a:cubicBezTo>
                  <a:cubicBezTo>
                    <a:pt x="0" y="147828"/>
                    <a:pt x="147828" y="0"/>
                    <a:pt x="330200" y="0"/>
                  </a:cubicBezTo>
                  <a:close/>
                </a:path>
              </a:pathLst>
            </a:custGeom>
            <a:solidFill>
              <a:srgbClr val="F0A50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171450" lIns="171450" bIns="171450" rIns="17145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A1A1A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8.6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915525" y="5191125"/>
            <a:ext cx="531304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Asistencia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970258" y="5191125"/>
            <a:ext cx="212217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92%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915525" y="5400675"/>
            <a:ext cx="2266950" cy="57150"/>
            <a:chOff x="0" y="0"/>
            <a:chExt cx="3022600" cy="76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22600" cy="76200"/>
            </a:xfrm>
            <a:custGeom>
              <a:avLst/>
              <a:gdLst/>
              <a:ahLst/>
              <a:cxnLst/>
              <a:rect r="r" b="b" t="t" l="l"/>
              <a:pathLst>
                <a:path h="76200" w="3022600">
                  <a:moveTo>
                    <a:pt x="38100" y="0"/>
                  </a:moveTo>
                  <a:lnTo>
                    <a:pt x="2984500" y="0"/>
                  </a:lnTo>
                  <a:cubicBezTo>
                    <a:pt x="3005582" y="0"/>
                    <a:pt x="3022600" y="17018"/>
                    <a:pt x="3022600" y="38100"/>
                  </a:cubicBezTo>
                  <a:cubicBezTo>
                    <a:pt x="3022600" y="59182"/>
                    <a:pt x="3005582" y="76200"/>
                    <a:pt x="29845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915525" y="5400675"/>
            <a:ext cx="2085499" cy="57150"/>
            <a:chOff x="0" y="0"/>
            <a:chExt cx="2780665" cy="76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80665" cy="76200"/>
            </a:xfrm>
            <a:custGeom>
              <a:avLst/>
              <a:gdLst/>
              <a:ahLst/>
              <a:cxnLst/>
              <a:rect r="r" b="b" t="t" l="l"/>
              <a:pathLst>
                <a:path h="76200" w="2780665">
                  <a:moveTo>
                    <a:pt x="38100" y="0"/>
                  </a:moveTo>
                  <a:lnTo>
                    <a:pt x="2742565" y="0"/>
                  </a:lnTo>
                  <a:cubicBezTo>
                    <a:pt x="2763647" y="0"/>
                    <a:pt x="2780665" y="17018"/>
                    <a:pt x="2780665" y="38100"/>
                  </a:cubicBezTo>
                  <a:cubicBezTo>
                    <a:pt x="2780665" y="59182"/>
                    <a:pt x="2763647" y="76200"/>
                    <a:pt x="2742565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915525" y="5572125"/>
            <a:ext cx="607504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Puntualidad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970258" y="5572125"/>
            <a:ext cx="212217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78%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915525" y="5781675"/>
            <a:ext cx="2266950" cy="57150"/>
            <a:chOff x="0" y="0"/>
            <a:chExt cx="3022600" cy="76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22600" cy="76200"/>
            </a:xfrm>
            <a:custGeom>
              <a:avLst/>
              <a:gdLst/>
              <a:ahLst/>
              <a:cxnLst/>
              <a:rect r="r" b="b" t="t" l="l"/>
              <a:pathLst>
                <a:path h="76200" w="3022600">
                  <a:moveTo>
                    <a:pt x="38100" y="0"/>
                  </a:moveTo>
                  <a:lnTo>
                    <a:pt x="2984500" y="0"/>
                  </a:lnTo>
                  <a:cubicBezTo>
                    <a:pt x="3005582" y="0"/>
                    <a:pt x="3022600" y="17018"/>
                    <a:pt x="3022600" y="38100"/>
                  </a:cubicBezTo>
                  <a:cubicBezTo>
                    <a:pt x="3022600" y="59182"/>
                    <a:pt x="3005582" y="76200"/>
                    <a:pt x="29845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915525" y="5781675"/>
            <a:ext cx="1768126" cy="57150"/>
            <a:chOff x="0" y="0"/>
            <a:chExt cx="2357501" cy="76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357501" cy="76200"/>
            </a:xfrm>
            <a:custGeom>
              <a:avLst/>
              <a:gdLst/>
              <a:ahLst/>
              <a:cxnLst/>
              <a:rect r="r" b="b" t="t" l="l"/>
              <a:pathLst>
                <a:path h="76200" w="2357501">
                  <a:moveTo>
                    <a:pt x="38100" y="0"/>
                  </a:moveTo>
                  <a:lnTo>
                    <a:pt x="2319401" y="0"/>
                  </a:lnTo>
                  <a:cubicBezTo>
                    <a:pt x="2340483" y="0"/>
                    <a:pt x="2357501" y="17018"/>
                    <a:pt x="2357501" y="38100"/>
                  </a:cubicBezTo>
                  <a:cubicBezTo>
                    <a:pt x="2357501" y="59182"/>
                    <a:pt x="2340483" y="76200"/>
                    <a:pt x="2319401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9915525" y="5953125"/>
            <a:ext cx="65751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Juego limpio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970258" y="5953125"/>
            <a:ext cx="212217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95%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915525" y="6162675"/>
            <a:ext cx="2266950" cy="57150"/>
            <a:chOff x="0" y="0"/>
            <a:chExt cx="3022600" cy="76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022600" cy="76200"/>
            </a:xfrm>
            <a:custGeom>
              <a:avLst/>
              <a:gdLst/>
              <a:ahLst/>
              <a:cxnLst/>
              <a:rect r="r" b="b" t="t" l="l"/>
              <a:pathLst>
                <a:path h="76200" w="3022600">
                  <a:moveTo>
                    <a:pt x="38100" y="0"/>
                  </a:moveTo>
                  <a:lnTo>
                    <a:pt x="2984500" y="0"/>
                  </a:lnTo>
                  <a:cubicBezTo>
                    <a:pt x="3005582" y="0"/>
                    <a:pt x="3022600" y="17018"/>
                    <a:pt x="3022600" y="38100"/>
                  </a:cubicBezTo>
                  <a:cubicBezTo>
                    <a:pt x="3022600" y="59182"/>
                    <a:pt x="3005582" y="76200"/>
                    <a:pt x="29845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915525" y="6162675"/>
            <a:ext cx="2153507" cy="57150"/>
            <a:chOff x="0" y="0"/>
            <a:chExt cx="2871343" cy="76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871343" cy="76200"/>
            </a:xfrm>
            <a:custGeom>
              <a:avLst/>
              <a:gdLst/>
              <a:ahLst/>
              <a:cxnLst/>
              <a:rect r="r" b="b" t="t" l="l"/>
              <a:pathLst>
                <a:path h="76200" w="2871343">
                  <a:moveTo>
                    <a:pt x="38100" y="0"/>
                  </a:moveTo>
                  <a:lnTo>
                    <a:pt x="2833243" y="0"/>
                  </a:lnTo>
                  <a:cubicBezTo>
                    <a:pt x="2854325" y="0"/>
                    <a:pt x="2871343" y="17018"/>
                    <a:pt x="2871343" y="38100"/>
                  </a:cubicBezTo>
                  <a:cubicBezTo>
                    <a:pt x="2871343" y="59182"/>
                    <a:pt x="2854325" y="76200"/>
                    <a:pt x="2833243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915525" y="6429375"/>
            <a:ext cx="2266950" cy="609600"/>
            <a:chOff x="0" y="0"/>
            <a:chExt cx="30226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22600" cy="812800"/>
            </a:xfrm>
            <a:custGeom>
              <a:avLst/>
              <a:gdLst/>
              <a:ahLst/>
              <a:cxnLst/>
              <a:rect r="r" b="b" t="t" l="l"/>
              <a:pathLst>
                <a:path h="812800" w="3022600">
                  <a:moveTo>
                    <a:pt x="127000" y="0"/>
                  </a:moveTo>
                  <a:lnTo>
                    <a:pt x="2895600" y="0"/>
                  </a:lnTo>
                  <a:cubicBezTo>
                    <a:pt x="2965704" y="0"/>
                    <a:pt x="3022600" y="56896"/>
                    <a:pt x="3022600" y="127000"/>
                  </a:cubicBezTo>
                  <a:lnTo>
                    <a:pt x="3022600" y="685800"/>
                  </a:lnTo>
                  <a:cubicBezTo>
                    <a:pt x="3022600" y="755904"/>
                    <a:pt x="2965704" y="812800"/>
                    <a:pt x="2895600" y="812800"/>
                  </a:cubicBezTo>
                  <a:lnTo>
                    <a:pt x="127000" y="812800"/>
                  </a:lnTo>
                  <a:cubicBezTo>
                    <a:pt x="56896" y="812800"/>
                    <a:pt x="0" y="755904"/>
                    <a:pt x="0" y="6858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22600" cy="812800"/>
            </a:xfrm>
            <a:custGeom>
              <a:avLst/>
              <a:gdLst/>
              <a:ahLst/>
              <a:cxnLst/>
              <a:rect r="r" b="b" t="t" l="l"/>
              <a:pathLst>
                <a:path h="812800" w="3022600">
                  <a:moveTo>
                    <a:pt x="127000" y="0"/>
                  </a:moveTo>
                  <a:lnTo>
                    <a:pt x="2895600" y="0"/>
                  </a:lnTo>
                  <a:cubicBezTo>
                    <a:pt x="2965704" y="0"/>
                    <a:pt x="3022600" y="56896"/>
                    <a:pt x="3022600" y="127000"/>
                  </a:cubicBezTo>
                  <a:lnTo>
                    <a:pt x="3022600" y="685800"/>
                  </a:lnTo>
                  <a:cubicBezTo>
                    <a:pt x="3022600" y="755904"/>
                    <a:pt x="2965704" y="812800"/>
                    <a:pt x="2895600" y="812800"/>
                  </a:cubicBezTo>
                  <a:lnTo>
                    <a:pt x="127000" y="812800"/>
                  </a:lnTo>
                  <a:cubicBezTo>
                    <a:pt x="56896" y="812800"/>
                    <a:pt x="0" y="755904"/>
                    <a:pt x="0" y="6858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sp>
        <p:nvSpPr>
          <p:cNvPr name="TextBox 81" id="81"/>
          <p:cNvSpPr txBox="true"/>
          <p:nvPr/>
        </p:nvSpPr>
        <p:spPr>
          <a:xfrm rot="0">
            <a:off x="10380726" y="6543675"/>
            <a:ext cx="39338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380726" y="6753225"/>
            <a:ext cx="39338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Partidos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418951" y="6543675"/>
            <a:ext cx="29813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4.8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418951" y="6753225"/>
            <a:ext cx="29813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"/>
              </a:lnSpc>
            </a:pPr>
            <a:r>
              <a:rPr lang="en-US" sz="82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Rating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52500" y="3114675"/>
            <a:ext cx="16383000" cy="676275"/>
            <a:chOff x="0" y="0"/>
            <a:chExt cx="21844000" cy="901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2500" y="3962400"/>
            <a:ext cx="16383000" cy="676275"/>
            <a:chOff x="0" y="0"/>
            <a:chExt cx="21844000" cy="901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52500" y="4810125"/>
            <a:ext cx="16383000" cy="676275"/>
            <a:chOff x="0" y="0"/>
            <a:chExt cx="21844000" cy="901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2500" y="5657850"/>
            <a:ext cx="16383000" cy="676275"/>
            <a:chOff x="0" y="0"/>
            <a:chExt cx="21844000" cy="901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52500" y="6505575"/>
            <a:ext cx="16383000" cy="676275"/>
            <a:chOff x="0" y="0"/>
            <a:chExt cx="21844000" cy="901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44000" cy="901700"/>
            </a:xfrm>
            <a:custGeom>
              <a:avLst/>
              <a:gdLst/>
              <a:ahLst/>
              <a:cxnLst/>
              <a:rect r="r" b="b" t="t" l="l"/>
              <a:pathLst>
                <a:path h="901700" w="21844000">
                  <a:moveTo>
                    <a:pt x="127000" y="0"/>
                  </a:moveTo>
                  <a:lnTo>
                    <a:pt x="21717000" y="0"/>
                  </a:lnTo>
                  <a:cubicBezTo>
                    <a:pt x="21787104" y="0"/>
                    <a:pt x="21844000" y="56896"/>
                    <a:pt x="21844000" y="127000"/>
                  </a:cubicBezTo>
                  <a:lnTo>
                    <a:pt x="21844000" y="774700"/>
                  </a:lnTo>
                  <a:cubicBezTo>
                    <a:pt x="21844000" y="844804"/>
                    <a:pt x="21787104" y="901700"/>
                    <a:pt x="2171700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69539" y="8077317"/>
            <a:ext cx="3377983" cy="2223113"/>
            <a:chOff x="0" y="0"/>
            <a:chExt cx="926277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6277" cy="609600"/>
            </a:xfrm>
            <a:custGeom>
              <a:avLst/>
              <a:gdLst/>
              <a:ahLst/>
              <a:cxnLst/>
              <a:rect r="r" b="b" t="t" l="l"/>
              <a:pathLst>
                <a:path h="609600" w="926277">
                  <a:moveTo>
                    <a:pt x="203200" y="0"/>
                  </a:moveTo>
                  <a:lnTo>
                    <a:pt x="926277" y="0"/>
                  </a:lnTo>
                  <a:lnTo>
                    <a:pt x="72307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66675"/>
              <a:ext cx="723077" cy="67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0">
            <a:off x="-347330" y="7581900"/>
            <a:ext cx="4811721" cy="3208816"/>
          </a:xfrm>
          <a:custGeom>
            <a:avLst/>
            <a:gdLst/>
            <a:ahLst/>
            <a:cxnLst/>
            <a:rect r="r" b="b" t="t" l="l"/>
            <a:pathLst>
              <a:path h="3208816" w="4811721">
                <a:moveTo>
                  <a:pt x="4811720" y="0"/>
                </a:moveTo>
                <a:lnTo>
                  <a:pt x="0" y="0"/>
                </a:lnTo>
                <a:lnTo>
                  <a:pt x="0" y="3208816"/>
                </a:lnTo>
                <a:lnTo>
                  <a:pt x="4811720" y="3208816"/>
                </a:lnTo>
                <a:lnTo>
                  <a:pt x="481172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2500" y="1323975"/>
            <a:ext cx="16383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Próximos pasos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" y="2247900"/>
            <a:ext cx="16383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De Sprint 3 a Sprint 9 · septiembre a diciembre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6825" y="3290887"/>
            <a:ext cx="1238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Sprint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71775" y="3295650"/>
            <a:ext cx="1321174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Modelo de datos, diagramas UML y arquitectura detallada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50222" y="3328987"/>
            <a:ext cx="77095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01–14 sep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6825" y="4138613"/>
            <a:ext cx="1238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Sprint 4–5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71775" y="4143375"/>
            <a:ext cx="1294161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REST, autenticación, sistema de honor y pagos fraccionados (HU-01, 03, 06–09)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80093" y="4176713"/>
            <a:ext cx="104108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15 sep–12 oct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6825" y="4986337"/>
            <a:ext cx="1238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Sprint 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71775" y="4991100"/>
            <a:ext cx="1324213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Frontend, mapa interactivo y perfil de jugador (HU-02, 04, 05)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80606" y="5024437"/>
            <a:ext cx="740569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13–26 oct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6825" y="5834063"/>
            <a:ext cx="1238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Sprint 7–8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71775" y="5838825"/>
            <a:ext cx="1294295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Pruebas de certificación, contenerización y despliegue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981426" y="5872163"/>
            <a:ext cx="1039749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27 oct–23 nov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6825" y="6681787"/>
            <a:ext cx="1238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0A500"/>
                </a:solidFill>
                <a:latin typeface="Roboto Bold"/>
                <a:ea typeface="Roboto Bold"/>
                <a:cs typeface="Roboto Bold"/>
                <a:sym typeface="Roboto Bold"/>
              </a:rPr>
              <a:t>Sprint 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71775" y="6686550"/>
            <a:ext cx="130484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Presentación final ante la Comisión de Título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086963" y="6719887"/>
            <a:ext cx="93421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24 nov–7 dic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1A1A1A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95" y="-225742"/>
            <a:ext cx="18288000" cy="12195810"/>
          </a:xfrm>
          <a:custGeom>
            <a:avLst/>
            <a:gdLst/>
            <a:ahLst/>
            <a:cxnLst/>
            <a:rect r="r" b="b" t="t" l="l"/>
            <a:pathLst>
              <a:path h="12195810" w="18288000">
                <a:moveTo>
                  <a:pt x="0" y="0"/>
                </a:moveTo>
                <a:lnTo>
                  <a:pt x="18288000" y="0"/>
                </a:lnTo>
                <a:lnTo>
                  <a:pt x="18288000" y="12195810"/>
                </a:lnTo>
                <a:lnTo>
                  <a:pt x="0" y="1219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1" t="-1593" r="-1641" b="-1593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7F7F7F">
              <a:alpha val="7843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-95" y="0"/>
            <a:ext cx="18288000" cy="10287000"/>
          </a:xfrm>
          <a:prstGeom prst="rect">
            <a:avLst/>
          </a:prstGeom>
          <a:solidFill>
            <a:srgbClr val="1A1A1A">
              <a:alpha val="71765"/>
            </a:srgbClr>
          </a:solidFill>
        </p:spPr>
      </p:sp>
      <p:sp>
        <p:nvSpPr>
          <p:cNvPr name="TextBox 6" id="6"/>
          <p:cNvSpPr txBox="true"/>
          <p:nvPr/>
        </p:nvSpPr>
        <p:spPr>
          <a:xfrm rot="0">
            <a:off x="-571500" y="6134100"/>
            <a:ext cx="3979640" cy="567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0"/>
              </a:lnSpc>
            </a:pPr>
            <a:r>
              <a:rPr lang="en-US" sz="52500" spc="-1207">
                <a:solidFill>
                  <a:srgbClr val="242424">
                    <a:alpha val="49804"/>
                  </a:srgbClr>
                </a:solidFill>
                <a:latin typeface="Anton"/>
                <a:ea typeface="Anton"/>
                <a:cs typeface="Anton"/>
                <a:sym typeface="Anton"/>
              </a:rPr>
              <a:t>&gt;&gt;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19100"/>
            <a:ext cx="6661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7A3A"/>
                </a:solidFill>
                <a:latin typeface="Anton"/>
                <a:ea typeface="Anton"/>
                <a:cs typeface="Anton"/>
                <a:sym typeface="Anton"/>
              </a:rPr>
              <a:t>KANCHA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27519" y="466725"/>
            <a:ext cx="60798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75">
                <a:solidFill>
                  <a:srgbClr val="B0B0B0"/>
                </a:solidFill>
                <a:latin typeface="Roboto"/>
                <a:ea typeface="Roboto"/>
                <a:cs typeface="Roboto"/>
                <a:sym typeface="Roboto"/>
              </a:rPr>
              <a:t>15 / 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46684" y="4310063"/>
            <a:ext cx="10394632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spc="7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JUEGA. </a:t>
            </a:r>
            <a:r>
              <a:rPr lang="en-US" sz="7200" spc="72">
                <a:solidFill>
                  <a:srgbClr val="F0A500"/>
                </a:solidFill>
                <a:latin typeface="Anton"/>
                <a:ea typeface="Anton"/>
                <a:cs typeface="Anton"/>
                <a:sym typeface="Anton"/>
              </a:rPr>
              <a:t>CONECTA.</a:t>
            </a:r>
            <a:r>
              <a:rPr lang="en-US" sz="7200" spc="7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VIVE MEJOR.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6588" y="5824537"/>
            <a:ext cx="1039463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Gracias · Lukas Guerrero · Ingeniería en Informática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DAHTz3GaeNc</dc:identifier>
  <dcterms:modified xsi:type="dcterms:W3CDTF">2011-08-01T06:04:30Z</dcterms:modified>
  <cp:revision>1</cp:revision>
  <dc:title>Presentación Kancha Fase 1</dc:title>
</cp:coreProperties>
</file>