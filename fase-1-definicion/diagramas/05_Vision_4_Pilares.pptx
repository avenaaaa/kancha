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82880"/>
            <a:ext cx="11430000" cy="548640"/>
          </a:xfrm>
          <a:prstGeom prst="rect">
            <a:avLst/>
          </a:prstGeom>
          <a:noFill/>
          <a:ln/>
        </p:spPr>
        <p:txBody>
          <a:bodyPr wrap="square" rtlCol="0" anchor="ctr"/>
          <a:lstStyle/>
          <a:p>
            <a:pPr indent="0" marL="0">
              <a:buNone/>
            </a:pPr>
            <a:r>
              <a:rPr lang="en-US" sz="2200" b="1" dirty="0">
                <a:solidFill>
                  <a:srgbClr val="1F6F5C"/>
                </a:solidFill>
                <a:latin typeface="Calibri" pitchFamily="34" charset="0"/>
                <a:ea typeface="Calibri" pitchFamily="34" charset="-122"/>
                <a:cs typeface="Calibri" pitchFamily="34" charset="-120"/>
              </a:rPr>
              <a:t>Visión del Proyecto + 4 Pilares — Product Vision Board</a:t>
            </a:r>
            <a:endParaRPr lang="en-US" sz="2200" dirty="0"/>
          </a:p>
        </p:txBody>
      </p:sp>
      <p:sp>
        <p:nvSpPr>
          <p:cNvPr id="3" name="Shape 1"/>
          <p:cNvSpPr/>
          <p:nvPr/>
        </p:nvSpPr>
        <p:spPr>
          <a:xfrm>
            <a:off x="914400" y="822960"/>
            <a:ext cx="10332720" cy="1051560"/>
          </a:xfrm>
          <a:prstGeom prst="roundRect">
            <a:avLst>
              <a:gd name="adj" fmla="val 6957"/>
            </a:avLst>
          </a:prstGeom>
          <a:solidFill>
            <a:srgbClr val="1F6F5C"/>
          </a:solidFill>
          <a:ln w="15875">
            <a:solidFill>
              <a:srgbClr val="22333B"/>
            </a:solidFill>
            <a:prstDash val="solid"/>
          </a:ln>
        </p:spPr>
      </p:sp>
      <p:sp>
        <p:nvSpPr>
          <p:cNvPr id="4" name="Text 2"/>
          <p:cNvSpPr txBox="1"/>
          <p:nvPr/>
        </p:nvSpPr>
        <p:spPr>
          <a:xfrm>
            <a:off x="914400" y="822960"/>
            <a:ext cx="10332720" cy="1051560"/>
          </a:xfrm>
          <a:prstGeom prst="rect">
            <a:avLst/>
          </a:prstGeom>
          <a:noFill/>
          <a:ln/>
        </p:spPr>
        <p:txBody>
          <a:bodyPr wrap="square" lIns="25400" tIns="25400" rIns="25400" bIns="254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VISIÓN: Para los deportistas amateurs y organizadores de La Florida que sufren la cancelación de partidos por falta de jugadores, Kancha es una plataforma geolocalizada que conecta "agentes libres" con partidos que necesitan completar cupos, mediante un mapa en tiempo real, un Sistema de Honor y pago fraccionado con retención por deserción.</a:t>
            </a:r>
            <a:endParaRPr lang="en-US" sz="1100" dirty="0"/>
          </a:p>
        </p:txBody>
      </p:sp>
      <p:sp>
        <p:nvSpPr>
          <p:cNvPr id="5" name="Shape 3"/>
          <p:cNvSpPr/>
          <p:nvPr/>
        </p:nvSpPr>
        <p:spPr>
          <a:xfrm>
            <a:off x="640080" y="2148840"/>
            <a:ext cx="5394960" cy="2011680"/>
          </a:xfrm>
          <a:prstGeom prst="roundRect">
            <a:avLst>
              <a:gd name="adj" fmla="val 3636"/>
            </a:avLst>
          </a:prstGeom>
          <a:solidFill>
            <a:srgbClr val="F4F1EA"/>
          </a:solidFill>
          <a:ln w="15875">
            <a:solidFill>
              <a:srgbClr val="1F6F5C"/>
            </a:solidFill>
            <a:prstDash val="solid"/>
          </a:ln>
        </p:spPr>
      </p:sp>
      <p:sp>
        <p:nvSpPr>
          <p:cNvPr id="6" name="Text 4"/>
          <p:cNvSpPr txBox="1"/>
          <p:nvPr/>
        </p:nvSpPr>
        <p:spPr>
          <a:xfrm>
            <a:off x="640080" y="2148840"/>
            <a:ext cx="5394960" cy="2011680"/>
          </a:xfrm>
          <a:prstGeom prst="rect">
            <a:avLst/>
          </a:prstGeom>
          <a:noFill/>
          <a:ln/>
        </p:spPr>
        <p:txBody>
          <a:bodyPr wrap="square" lIns="25400" tIns="25400" rIns="25400" bIns="25400" rtlCol="0" anchor="ctr"/>
          <a:lstStyle/>
          <a:p>
            <a:pPr algn="ctr" indent="0" marL="0">
              <a:buNone/>
            </a:pPr>
            <a:endParaRPr lang="en-US" sz="1100" dirty="0"/>
          </a:p>
        </p:txBody>
      </p:sp>
      <p:sp>
        <p:nvSpPr>
          <p:cNvPr id="7" name="Text 5"/>
          <p:cNvSpPr txBox="1"/>
          <p:nvPr/>
        </p:nvSpPr>
        <p:spPr>
          <a:xfrm>
            <a:off x="822960" y="2286000"/>
            <a:ext cx="5029200" cy="1737360"/>
          </a:xfrm>
          <a:prstGeom prst="rect">
            <a:avLst/>
          </a:prstGeom>
          <a:noFill/>
          <a:ln/>
        </p:spPr>
        <p:txBody>
          <a:bodyPr wrap="square" rtlCol="0" anchor="t"/>
          <a:lstStyle/>
          <a:p>
            <a:pPr indent="0" marL="0">
              <a:buNone/>
            </a:pPr>
            <a:r>
              <a:rPr lang="en-US" sz="1300" b="1" dirty="0">
                <a:solidFill>
                  <a:srgbClr val="1F6F5C"/>
                </a:solidFill>
                <a:latin typeface="Calibri" pitchFamily="34" charset="0"/>
                <a:ea typeface="Calibri" pitchFamily="34" charset="-122"/>
                <a:cs typeface="Calibri" pitchFamily="34" charset="-120"/>
              </a:rPr>
              <a:t>PILAR 1 — Grupo objetivo
</a:t>
            </a:r>
            <a:pPr indent="0" marL="0">
              <a:buNone/>
            </a:pPr>
            <a:r>
              <a:rPr lang="en-US" sz="1100" dirty="0">
                <a:solidFill>
                  <a:srgbClr val="22333B"/>
                </a:solidFill>
                <a:latin typeface="Calibri" pitchFamily="34" charset="0"/>
                <a:ea typeface="Calibri" pitchFamily="34" charset="-122"/>
                <a:cs typeface="Calibri" pitchFamily="34" charset="-120"/>
              </a:rPr>
              <a:t>Deportistas amateurs (18–45 años) de La Florida que organizan o buscan partidos de fútbol 5/7 sin equipo fijo.</a:t>
            </a:r>
            <a:endParaRPr lang="en-US" sz="1300" dirty="0"/>
          </a:p>
        </p:txBody>
      </p:sp>
      <p:sp>
        <p:nvSpPr>
          <p:cNvPr id="8" name="Shape 6"/>
          <p:cNvSpPr/>
          <p:nvPr/>
        </p:nvSpPr>
        <p:spPr>
          <a:xfrm>
            <a:off x="6245352" y="2148840"/>
            <a:ext cx="5394960" cy="2011680"/>
          </a:xfrm>
          <a:prstGeom prst="roundRect">
            <a:avLst>
              <a:gd name="adj" fmla="val 3636"/>
            </a:avLst>
          </a:prstGeom>
          <a:solidFill>
            <a:srgbClr val="FEF5EC"/>
          </a:solidFill>
          <a:ln w="15875">
            <a:solidFill>
              <a:srgbClr val="E07A2C"/>
            </a:solidFill>
            <a:prstDash val="solid"/>
          </a:ln>
        </p:spPr>
      </p:sp>
      <p:sp>
        <p:nvSpPr>
          <p:cNvPr id="9" name="Text 7"/>
          <p:cNvSpPr txBox="1"/>
          <p:nvPr/>
        </p:nvSpPr>
        <p:spPr>
          <a:xfrm>
            <a:off x="6245352" y="2148840"/>
            <a:ext cx="5394960" cy="2011680"/>
          </a:xfrm>
          <a:prstGeom prst="rect">
            <a:avLst/>
          </a:prstGeom>
          <a:noFill/>
          <a:ln/>
        </p:spPr>
        <p:txBody>
          <a:bodyPr wrap="square" lIns="25400" tIns="25400" rIns="25400" bIns="25400" rtlCol="0" anchor="ctr"/>
          <a:lstStyle/>
          <a:p>
            <a:pPr algn="ctr" indent="0" marL="0">
              <a:buNone/>
            </a:pPr>
            <a:endParaRPr lang="en-US" sz="1100" dirty="0"/>
          </a:p>
        </p:txBody>
      </p:sp>
      <p:sp>
        <p:nvSpPr>
          <p:cNvPr id="10" name="Text 8"/>
          <p:cNvSpPr txBox="1"/>
          <p:nvPr/>
        </p:nvSpPr>
        <p:spPr>
          <a:xfrm>
            <a:off x="6428232" y="2286000"/>
            <a:ext cx="5029200" cy="1737360"/>
          </a:xfrm>
          <a:prstGeom prst="rect">
            <a:avLst/>
          </a:prstGeom>
          <a:noFill/>
          <a:ln/>
        </p:spPr>
        <p:txBody>
          <a:bodyPr wrap="square" rtlCol="0" anchor="t"/>
          <a:lstStyle/>
          <a:p>
            <a:pPr indent="0" marL="0">
              <a:buNone/>
            </a:pPr>
            <a:r>
              <a:rPr lang="en-US" sz="1300" b="1" dirty="0">
                <a:solidFill>
                  <a:srgbClr val="E07A2C"/>
                </a:solidFill>
                <a:latin typeface="Calibri" pitchFamily="34" charset="0"/>
                <a:ea typeface="Calibri" pitchFamily="34" charset="-122"/>
                <a:cs typeface="Calibri" pitchFamily="34" charset="-120"/>
              </a:rPr>
              <a:t>PILAR 2 — Necesidades
</a:t>
            </a:r>
            <a:pPr indent="0" marL="0">
              <a:buNone/>
            </a:pPr>
            <a:r>
              <a:rPr lang="en-US" sz="1100" dirty="0">
                <a:solidFill>
                  <a:srgbClr val="22333B"/>
                </a:solidFill>
                <a:latin typeface="Calibri" pitchFamily="34" charset="0"/>
                <a:ea typeface="Calibri" pitchFamily="34" charset="-122"/>
                <a:cs typeface="Calibri" pitchFamily="34" charset="-120"/>
              </a:rPr>
              <a:t>Completar o sumarse a un partido de forma rápida, segura y económicamente justa, sin depender de un grupo fijo.</a:t>
            </a:r>
            <a:endParaRPr lang="en-US" sz="1300" dirty="0"/>
          </a:p>
        </p:txBody>
      </p:sp>
      <p:sp>
        <p:nvSpPr>
          <p:cNvPr id="11" name="Shape 9"/>
          <p:cNvSpPr/>
          <p:nvPr/>
        </p:nvSpPr>
        <p:spPr>
          <a:xfrm>
            <a:off x="640080" y="4343400"/>
            <a:ext cx="5394960" cy="2011680"/>
          </a:xfrm>
          <a:prstGeom prst="roundRect">
            <a:avLst>
              <a:gd name="adj" fmla="val 3636"/>
            </a:avLst>
          </a:prstGeom>
          <a:solidFill>
            <a:srgbClr val="F2F0EA"/>
          </a:solidFill>
          <a:ln w="15875">
            <a:solidFill>
              <a:srgbClr val="22333B"/>
            </a:solidFill>
            <a:prstDash val="solid"/>
          </a:ln>
        </p:spPr>
      </p:sp>
      <p:sp>
        <p:nvSpPr>
          <p:cNvPr id="12" name="Text 10"/>
          <p:cNvSpPr txBox="1"/>
          <p:nvPr/>
        </p:nvSpPr>
        <p:spPr>
          <a:xfrm>
            <a:off x="640080" y="4343400"/>
            <a:ext cx="5394960" cy="2011680"/>
          </a:xfrm>
          <a:prstGeom prst="rect">
            <a:avLst/>
          </a:prstGeom>
          <a:noFill/>
          <a:ln/>
        </p:spPr>
        <p:txBody>
          <a:bodyPr wrap="square" lIns="25400" tIns="25400" rIns="25400" bIns="25400" rtlCol="0" anchor="ctr"/>
          <a:lstStyle/>
          <a:p>
            <a:pPr algn="ctr" indent="0" marL="0">
              <a:buNone/>
            </a:pPr>
            <a:endParaRPr lang="en-US" sz="1100" dirty="0"/>
          </a:p>
        </p:txBody>
      </p:sp>
      <p:sp>
        <p:nvSpPr>
          <p:cNvPr id="13" name="Text 11"/>
          <p:cNvSpPr txBox="1"/>
          <p:nvPr/>
        </p:nvSpPr>
        <p:spPr>
          <a:xfrm>
            <a:off x="822960" y="4453128"/>
            <a:ext cx="5029200" cy="1792224"/>
          </a:xfrm>
          <a:prstGeom prst="rect">
            <a:avLst/>
          </a:prstGeom>
          <a:noFill/>
          <a:ln/>
        </p:spPr>
        <p:txBody>
          <a:bodyPr wrap="square" rtlCol="0" anchor="t"/>
          <a:lstStyle/>
          <a:p>
            <a:pPr indent="0" marL="0">
              <a:buNone/>
            </a:pPr>
            <a:r>
              <a:rPr lang="en-US" sz="1300" b="1" dirty="0">
                <a:solidFill>
                  <a:srgbClr val="22333B"/>
                </a:solidFill>
                <a:latin typeface="Calibri" pitchFamily="34" charset="0"/>
                <a:ea typeface="Calibri" pitchFamily="34" charset="-122"/>
                <a:cs typeface="Calibri" pitchFamily="34" charset="-120"/>
              </a:rPr>
              <a:t>PILAR 3 — Producto
</a:t>
            </a:r>
            <a:pPr indent="0" marL="0">
              <a:buNone/>
            </a:pPr>
            <a:r>
              <a:rPr lang="en-US" sz="1050" dirty="0">
                <a:solidFill>
                  <a:srgbClr val="22333B"/>
                </a:solidFill>
                <a:latin typeface="Calibri" pitchFamily="34" charset="0"/>
                <a:ea typeface="Calibri" pitchFamily="34" charset="-122"/>
                <a:cs typeface="Calibri" pitchFamily="34" charset="-120"/>
              </a:rPr>
              <a:t>• Mapa interactivo geolocalizado</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Sistema de Honor (perfiles y reseñas)</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Reserva con pago fraccionado</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Retención por deserción</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Filtros por disciplina, horario y zona</a:t>
            </a:r>
            <a:endParaRPr lang="en-US" sz="1300" dirty="0"/>
          </a:p>
        </p:txBody>
      </p:sp>
      <p:sp>
        <p:nvSpPr>
          <p:cNvPr id="14" name="Shape 12"/>
          <p:cNvSpPr/>
          <p:nvPr/>
        </p:nvSpPr>
        <p:spPr>
          <a:xfrm>
            <a:off x="6245352" y="4343400"/>
            <a:ext cx="5394960" cy="2011680"/>
          </a:xfrm>
          <a:prstGeom prst="roundRect">
            <a:avLst>
              <a:gd name="adj" fmla="val 3636"/>
            </a:avLst>
          </a:prstGeom>
          <a:solidFill>
            <a:srgbClr val="F2EBF7"/>
          </a:solidFill>
          <a:ln w="15875">
            <a:solidFill>
              <a:srgbClr val="7B4B94"/>
            </a:solidFill>
            <a:prstDash val="solid"/>
          </a:ln>
        </p:spPr>
      </p:sp>
      <p:sp>
        <p:nvSpPr>
          <p:cNvPr id="15" name="Text 13"/>
          <p:cNvSpPr txBox="1"/>
          <p:nvPr/>
        </p:nvSpPr>
        <p:spPr>
          <a:xfrm>
            <a:off x="6245352" y="4343400"/>
            <a:ext cx="5394960" cy="2011680"/>
          </a:xfrm>
          <a:prstGeom prst="rect">
            <a:avLst/>
          </a:prstGeom>
          <a:noFill/>
          <a:ln/>
        </p:spPr>
        <p:txBody>
          <a:bodyPr wrap="square" lIns="25400" tIns="25400" rIns="25400" bIns="25400" rtlCol="0" anchor="ctr"/>
          <a:lstStyle/>
          <a:p>
            <a:pPr algn="ctr" indent="0" marL="0">
              <a:buNone/>
            </a:pPr>
            <a:endParaRPr lang="en-US" sz="1100" dirty="0"/>
          </a:p>
        </p:txBody>
      </p:sp>
      <p:sp>
        <p:nvSpPr>
          <p:cNvPr id="16" name="Text 14"/>
          <p:cNvSpPr txBox="1"/>
          <p:nvPr/>
        </p:nvSpPr>
        <p:spPr>
          <a:xfrm>
            <a:off x="6428232" y="4453128"/>
            <a:ext cx="5029200" cy="1792224"/>
          </a:xfrm>
          <a:prstGeom prst="rect">
            <a:avLst/>
          </a:prstGeom>
          <a:noFill/>
          <a:ln/>
        </p:spPr>
        <p:txBody>
          <a:bodyPr wrap="square" rtlCol="0" anchor="t"/>
          <a:lstStyle/>
          <a:p>
            <a:pPr indent="0" marL="0">
              <a:buNone/>
            </a:pPr>
            <a:r>
              <a:rPr lang="en-US" sz="1300" b="1" dirty="0">
                <a:solidFill>
                  <a:srgbClr val="7B4B94"/>
                </a:solidFill>
                <a:latin typeface="Calibri" pitchFamily="34" charset="0"/>
                <a:ea typeface="Calibri" pitchFamily="34" charset="-122"/>
                <a:cs typeface="Calibri" pitchFamily="34" charset="-120"/>
              </a:rPr>
              <a:t>PILAR 4 — Objetivos de negocio
</a:t>
            </a:r>
            <a:pPr indent="0" marL="0">
              <a:buNone/>
            </a:pPr>
            <a:r>
              <a:rPr lang="en-US" sz="1050" dirty="0">
                <a:solidFill>
                  <a:srgbClr val="22333B"/>
                </a:solidFill>
                <a:latin typeface="Calibri" pitchFamily="34" charset="0"/>
                <a:ea typeface="Calibri" pitchFamily="34" charset="-122"/>
                <a:cs typeface="Calibri" pitchFamily="34" charset="-120"/>
              </a:rPr>
              <a:t>• Comisión por transacción (8–10% por reserva)</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Retención por deserción (fee de cancelación)</a:t>
            </a:r>
            <a:endParaRPr lang="en-US" sz="1300" dirty="0"/>
          </a:p>
          <a:p>
            <a:pPr indent="0" marL="0">
              <a:buNone/>
            </a:pPr>
            <a:r>
              <a:rPr lang="en-US" sz="1050" dirty="0">
                <a:solidFill>
                  <a:srgbClr val="22333B"/>
                </a:solidFill>
                <a:latin typeface="Calibri" pitchFamily="34" charset="0"/>
                <a:ea typeface="Calibri" pitchFamily="34" charset="-122"/>
                <a:cs typeface="Calibri" pitchFamily="34" charset="-120"/>
              </a:rPr>
              <a:t>• Escalabilidad a otras comunas y disciplinas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2026-08-30T16:58:49Z</dcterms:created>
  <dcterms:modified xsi:type="dcterms:W3CDTF">2026-08-30T16:58:49Z</dcterms:modified>
</cp:coreProperties>
</file>